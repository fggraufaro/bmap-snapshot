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entation.xml" ContentType="application/vnd.openxmlformats-officedocument.presentationml.presentation.main+xml"/>
  <Override PartName="/ppt/slides/slide17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9"/>
  </p:notesMasterIdLst>
  <p:sldIdLst>
    <p:sldId id="4123" r:id="rId2"/>
    <p:sldId id="4132" r:id="rId3"/>
    <p:sldId id="4124" r:id="rId4"/>
    <p:sldId id="4126" r:id="rId5"/>
    <p:sldId id="4127" r:id="rId6"/>
    <p:sldId id="4128" r:id="rId7"/>
    <p:sldId id="4129" r:id="rId8"/>
    <p:sldId id="4130" r:id="rId9"/>
    <p:sldId id="4131" r:id="rId10"/>
    <p:sldId id="398" r:id="rId11"/>
    <p:sldId id="4134" r:id="rId12"/>
    <p:sldId id="4136" r:id="rId13"/>
    <p:sldId id="4137" r:id="rId14"/>
    <p:sldId id="4138" r:id="rId15"/>
    <p:sldId id="4139" r:id="rId16"/>
    <p:sldId id="4140" r:id="rId17"/>
    <p:sldId id="414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B78104-F28F-430B-9F22-9EC21364A11B}" v="16" dt="2026-08-11T21:46:18.907"/>
    <p1510:client id="{A8DAD89D-B264-44BD-B3C6-CCB28912015D}" v="2" dt="2026-08-11T20:18:38.1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Relationship Id="rId27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8206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E908F3-C425-78BE-B088-8CAFB1360B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5" r="-5394"/>
          <a:stretch>
            <a:fillRect/>
          </a:stretch>
        </p:blipFill>
        <p:spPr>
          <a:xfrm>
            <a:off x="-55439" y="-4970"/>
            <a:ext cx="9144000" cy="51484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0AA8DB-6146-33C2-16C1-D29B2F5604E8}"/>
              </a:ext>
            </a:extLst>
          </p:cNvPr>
          <p:cNvSpPr txBox="1"/>
          <p:nvPr userDrawn="1"/>
        </p:nvSpPr>
        <p:spPr>
          <a:xfrm>
            <a:off x="9211962" y="1204783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35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9DBF1851-3B3F-23EB-E3C5-D5234C4258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9949" y="3092694"/>
            <a:ext cx="4613199" cy="685800"/>
          </a:xfrm>
          <a:prstGeom prst="rect">
            <a:avLst/>
          </a:prstGeom>
        </p:spPr>
        <p:txBody>
          <a:bodyPr/>
          <a:lstStyle>
            <a:lvl1pPr>
              <a:spcAft>
                <a:spcPts val="900"/>
              </a:spcAft>
              <a:buFontTx/>
              <a:buNone/>
              <a:defRPr b="1" i="0" baseline="0">
                <a:solidFill>
                  <a:schemeClr val="bg1"/>
                </a:solidFill>
                <a:latin typeface="Inter 28pt 28pt" panose="02000503000000020004" pitchFamily="2" charset="0"/>
              </a:defRPr>
            </a:lvl1pPr>
            <a:lvl2pPr marL="0">
              <a:buFontTx/>
              <a:buNone/>
              <a:defRPr sz="1350" b="0" i="1" baseline="0">
                <a:ln>
                  <a:noFill/>
                </a:ln>
                <a:solidFill>
                  <a:srgbClr val="02A7C2"/>
                </a:solidFill>
                <a:latin typeface="Inter 18pt 18pt" panose="02000503000000020004" pitchFamily="2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C8F9D88A-F4B6-A8C4-1128-318C2C51609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9281" y="4654203"/>
            <a:ext cx="2213681" cy="489298"/>
          </a:xfrm>
          <a:prstGeom prst="rect">
            <a:avLst/>
          </a:prstGeom>
        </p:spPr>
        <p:txBody>
          <a:bodyPr/>
          <a:lstStyle>
            <a:lvl1pPr>
              <a:spcAft>
                <a:spcPts val="900"/>
              </a:spcAft>
              <a:buFontTx/>
              <a:buNone/>
              <a:defRPr b="1" i="0" baseline="0">
                <a:solidFill>
                  <a:schemeClr val="bg1"/>
                </a:solidFill>
                <a:latin typeface="Inter 28pt 28pt" panose="02000503000000020004" pitchFamily="2" charset="0"/>
              </a:defRPr>
            </a:lvl1pPr>
            <a:lvl2pPr marL="0" algn="r">
              <a:buFontTx/>
              <a:buNone/>
              <a:defRPr sz="1350" b="0" i="0" baseline="0">
                <a:ln>
                  <a:noFill/>
                </a:ln>
                <a:solidFill>
                  <a:srgbClr val="02A7C2"/>
                </a:solidFill>
                <a:latin typeface="Inter 18pt 18pt" panose="02000503000000020004" pitchFamily="2" charset="0"/>
                <a:ea typeface="Inter 18pt 18pt" panose="02000503000000020004" pitchFamily="2" charset="0"/>
              </a:defRPr>
            </a:lvl2pPr>
          </a:lstStyle>
          <a:p>
            <a:pPr lvl="1"/>
            <a:r>
              <a:rPr lang="en-US"/>
              <a:t>Date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637D90-B054-E6CF-31EA-3C223B4F4C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70" y="1047422"/>
            <a:ext cx="4442904" cy="194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906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E2CA4E-FA0D-498A-81E1-8CE5A60319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7706"/>
            <a:ext cx="4572000" cy="51435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75000"/>
              <a:alpha val="2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6090CD-C577-6AA7-5F0D-0046A286F1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9758" y="66048"/>
            <a:ext cx="1464242" cy="6415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1FD2FF-74ED-A1E7-FF53-818BE3F25909}"/>
              </a:ext>
            </a:extLst>
          </p:cNvPr>
          <p:cNvSpPr txBox="1"/>
          <p:nvPr userDrawn="1"/>
        </p:nvSpPr>
        <p:spPr>
          <a:xfrm rot="16200000">
            <a:off x="-817583" y="3934300"/>
            <a:ext cx="20083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675" b="1" i="1" baseline="0" err="1">
                <a:solidFill>
                  <a:srgbClr val="02A7C2"/>
                </a:solidFill>
                <a:effectLst/>
                <a:latin typeface="Jost Black" pitchFamily="2" charset="77"/>
              </a:rPr>
              <a:t>Verlocity.ai</a:t>
            </a:r>
            <a:endParaRPr lang="en-US" sz="675" i="0" baseline="0">
              <a:solidFill>
                <a:srgbClr val="02A7C2"/>
              </a:solidFill>
              <a:effectLst/>
              <a:latin typeface="Jost Black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B8C00E-F0C1-9563-6F6B-C7A7922198EB}"/>
              </a:ext>
            </a:extLst>
          </p:cNvPr>
          <p:cNvSpPr txBox="1"/>
          <p:nvPr userDrawn="1"/>
        </p:nvSpPr>
        <p:spPr>
          <a:xfrm>
            <a:off x="8468475" y="4854539"/>
            <a:ext cx="616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6867525-6404-A442-9564-9FA0C65E9CFE}" type="slidenum">
              <a:rPr lang="en-US" sz="900" smtClean="0">
                <a:solidFill>
                  <a:srgbClr val="02A7C2"/>
                </a:solidFill>
              </a:rPr>
              <a:pPr algn="r"/>
              <a:t>‹#›</a:t>
            </a:fld>
            <a:endParaRPr lang="en-US" sz="900">
              <a:solidFill>
                <a:srgbClr val="02A7C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901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EC5AF29-3A0C-2F81-AD1C-A9B77BC4E9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39587" cy="51459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071FF1-1735-51F6-2330-FFE522B6A4E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341" y="176688"/>
            <a:ext cx="1803115" cy="78999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3E42C826-5DF6-5A4D-5092-6A33C38FD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169" y="2240722"/>
            <a:ext cx="6949787" cy="589562"/>
          </a:xfrm>
          <a:prstGeom prst="rect">
            <a:avLst/>
          </a:prstGeom>
        </p:spPr>
        <p:txBody>
          <a:bodyPr/>
          <a:lstStyle>
            <a:lvl1pPr>
              <a:defRPr sz="2700" b="1" i="0">
                <a:solidFill>
                  <a:srgbClr val="083D5F"/>
                </a:solidFill>
                <a:latin typeface="Inter 28pt 28pt" panose="02000503000000020004" pitchFamily="2" charset="0"/>
                <a:ea typeface="Inter 28pt 28pt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111343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EC5AF29-3A0C-2F81-AD1C-A9B77BC4E9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39587" cy="514598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3E42C826-5DF6-5A4D-5092-6A33C38FD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169" y="2279250"/>
            <a:ext cx="6949787" cy="589562"/>
          </a:xfrm>
          <a:prstGeom prst="rect">
            <a:avLst/>
          </a:prstGeom>
        </p:spPr>
        <p:txBody>
          <a:bodyPr/>
          <a:lstStyle>
            <a:lvl1pPr>
              <a:defRPr sz="2700" b="1" i="0">
                <a:solidFill>
                  <a:srgbClr val="083D5F"/>
                </a:solidFill>
                <a:latin typeface="Inter 28pt 28pt" panose="02000503000000020004" pitchFamily="2" charset="0"/>
                <a:ea typeface="Inter 28pt 28pt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C0AFBC-06EA-B515-28BA-57CBE71B2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26" y="662740"/>
            <a:ext cx="3531917" cy="1547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428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EA19BD-AC7A-B7EF-F4A8-1BD9EA7CF0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47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3E42C826-5DF6-5A4D-5092-6A33C38FD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169" y="2279250"/>
            <a:ext cx="6949787" cy="589562"/>
          </a:xfrm>
          <a:prstGeom prst="rect">
            <a:avLst/>
          </a:prstGeom>
        </p:spPr>
        <p:txBody>
          <a:bodyPr/>
          <a:lstStyle>
            <a:lvl1pPr>
              <a:defRPr sz="2700" b="1" i="0">
                <a:solidFill>
                  <a:schemeClr val="bg1"/>
                </a:solidFill>
                <a:latin typeface="Inter 28pt 28pt" panose="02000503000000020004" pitchFamily="2" charset="0"/>
                <a:ea typeface="Inter 28pt 28pt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8E76BA-626A-2264-A764-E00E898B9B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341" y="176688"/>
            <a:ext cx="1803115" cy="78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1996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copy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0B9470-2112-1517-F745-0D267CC60A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9758" y="66048"/>
            <a:ext cx="1464242" cy="6415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8DE168-C5C5-B150-8006-460D4FF4F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169" y="537781"/>
            <a:ext cx="6949787" cy="589562"/>
          </a:xfrm>
          <a:prstGeom prst="rect">
            <a:avLst/>
          </a:prstGeom>
        </p:spPr>
        <p:txBody>
          <a:bodyPr/>
          <a:lstStyle>
            <a:lvl1pPr>
              <a:defRPr sz="2700" b="1" i="0">
                <a:solidFill>
                  <a:srgbClr val="083D5F"/>
                </a:solidFill>
                <a:latin typeface="Inter 28pt 28pt" panose="02000503000000020004" pitchFamily="2" charset="0"/>
                <a:ea typeface="Inter 28pt 28pt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35EC8CA-76EC-3358-C592-323350C929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2278" y="1243596"/>
            <a:ext cx="6890147" cy="1695517"/>
          </a:xfrm>
          <a:prstGeom prst="rect">
            <a:avLst/>
          </a:prstGeom>
        </p:spPr>
        <p:txBody>
          <a:bodyPr/>
          <a:lstStyle>
            <a:lvl1pPr>
              <a:buClr>
                <a:srgbClr val="02A7C2"/>
              </a:buClr>
              <a:defRPr sz="150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1pPr>
            <a:lvl2pPr>
              <a:buClr>
                <a:srgbClr val="02A7C2"/>
              </a:buClr>
              <a:defRPr sz="13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2pPr>
            <a:lvl3pPr>
              <a:buClr>
                <a:srgbClr val="02A7C2"/>
              </a:buClr>
              <a:defRPr sz="120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3pPr>
            <a:lvl4pPr>
              <a:buClr>
                <a:srgbClr val="02A7C2"/>
              </a:buClr>
              <a:defRPr sz="10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4pPr>
            <a:lvl5pPr>
              <a:buClr>
                <a:srgbClr val="02A7C2"/>
              </a:buClr>
              <a:defRPr sz="10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EC3F3FE-9C14-3B03-F9F8-3A77DE82F1F0}"/>
              </a:ext>
            </a:extLst>
          </p:cNvPr>
          <p:cNvGrpSpPr/>
          <p:nvPr userDrawn="1"/>
        </p:nvGrpSpPr>
        <p:grpSpPr>
          <a:xfrm>
            <a:off x="-59579" y="4708132"/>
            <a:ext cx="9203579" cy="435368"/>
            <a:chOff x="-177760" y="5313949"/>
            <a:chExt cx="12271438" cy="58049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EB906C-35D6-AF03-7239-DFBCC9A6DC74}"/>
                </a:ext>
              </a:extLst>
            </p:cNvPr>
            <p:cNvSpPr/>
            <p:nvPr userDrawn="1"/>
          </p:nvSpPr>
          <p:spPr>
            <a:xfrm>
              <a:off x="-98322" y="5313949"/>
              <a:ext cx="12192000" cy="580490"/>
            </a:xfrm>
            <a:prstGeom prst="rect">
              <a:avLst/>
            </a:prstGeom>
            <a:gradFill flip="none" rotWithShape="1">
              <a:gsLst>
                <a:gs pos="0">
                  <a:srgbClr val="02A7C2"/>
                </a:gs>
                <a:gs pos="74000">
                  <a:srgbClr val="083D5F"/>
                </a:gs>
                <a:gs pos="83000">
                  <a:srgbClr val="083D5F"/>
                </a:gs>
                <a:gs pos="100000">
                  <a:srgbClr val="083D5F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DE0A23B-C66D-2ED7-60E4-17CAF775CB5B}"/>
                </a:ext>
              </a:extLst>
            </p:cNvPr>
            <p:cNvSpPr txBox="1"/>
            <p:nvPr userDrawn="1"/>
          </p:nvSpPr>
          <p:spPr>
            <a:xfrm>
              <a:off x="591048" y="5495653"/>
              <a:ext cx="267784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675" b="1" i="1" baseline="0" err="1">
                  <a:solidFill>
                    <a:schemeClr val="bg1"/>
                  </a:solidFill>
                  <a:effectLst/>
                  <a:latin typeface="Jost Black" pitchFamily="2" charset="77"/>
                </a:rPr>
                <a:t>Verlocity.ai</a:t>
              </a:r>
              <a:endParaRPr lang="en-US" sz="675" i="0" baseline="0">
                <a:solidFill>
                  <a:schemeClr val="bg1"/>
                </a:solidFill>
                <a:effectLst/>
                <a:latin typeface="Jost Black" pitchFamily="2" charset="77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3B72EA4-BAC3-6AFB-5B19-B4E04C1400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212" b="21063"/>
            <a:stretch>
              <a:fillRect/>
            </a:stretch>
          </p:blipFill>
          <p:spPr>
            <a:xfrm>
              <a:off x="-177760" y="5314691"/>
              <a:ext cx="843009" cy="579748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27B86F4-6E97-AC90-6431-291C942E6A66}"/>
              </a:ext>
            </a:extLst>
          </p:cNvPr>
          <p:cNvSpPr txBox="1"/>
          <p:nvPr userDrawn="1"/>
        </p:nvSpPr>
        <p:spPr>
          <a:xfrm>
            <a:off x="8468475" y="4854539"/>
            <a:ext cx="616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6867525-6404-A442-9564-9FA0C65E9CFE}" type="slidenum">
              <a:rPr lang="en-US" sz="900" smtClean="0">
                <a:solidFill>
                  <a:srgbClr val="02A7C2"/>
                </a:solidFill>
              </a:rPr>
              <a:pPr algn="r"/>
              <a:t>‹#›</a:t>
            </a:fld>
            <a:endParaRPr lang="en-US" sz="900">
              <a:solidFill>
                <a:srgbClr val="02A7C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0332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93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C34A1A1-51F4-47B1-86C1-0F3A4D3653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57750" y="925830"/>
            <a:ext cx="4286250" cy="3291840"/>
          </a:xfrm>
          <a:custGeom>
            <a:avLst/>
            <a:gdLst>
              <a:gd name="connsiteX0" fmla="*/ 0 w 5715000"/>
              <a:gd name="connsiteY0" fmla="*/ 0 h 4389120"/>
              <a:gd name="connsiteX1" fmla="*/ 5715000 w 5715000"/>
              <a:gd name="connsiteY1" fmla="*/ 0 h 4389120"/>
              <a:gd name="connsiteX2" fmla="*/ 5715000 w 5715000"/>
              <a:gd name="connsiteY2" fmla="*/ 4389120 h 4389120"/>
              <a:gd name="connsiteX3" fmla="*/ 0 w 5715000"/>
              <a:gd name="connsiteY3" fmla="*/ 4389120 h 4389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0" h="4389120">
                <a:moveTo>
                  <a:pt x="0" y="0"/>
                </a:moveTo>
                <a:lnTo>
                  <a:pt x="5715000" y="0"/>
                </a:lnTo>
                <a:lnTo>
                  <a:pt x="5715000" y="4389120"/>
                </a:lnTo>
                <a:lnTo>
                  <a:pt x="0" y="4389120"/>
                </a:lnTo>
                <a:close/>
              </a:path>
            </a:pathLst>
          </a:custGeom>
          <a:solidFill>
            <a:schemeClr val="bg1">
              <a:lumMod val="75000"/>
              <a:alpha val="2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596E4B-0AB0-B9CB-E62B-D3BB442E1B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9758" y="120315"/>
            <a:ext cx="1464242" cy="641524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54C4DEA-DADF-2886-EA56-EE4918206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440" y="565074"/>
            <a:ext cx="3833747" cy="1060178"/>
          </a:xfrm>
          <a:prstGeom prst="rect">
            <a:avLst/>
          </a:prstGeom>
        </p:spPr>
        <p:txBody>
          <a:bodyPr/>
          <a:lstStyle>
            <a:lvl1pPr>
              <a:defRPr sz="2700" b="1" i="0" baseline="0">
                <a:solidFill>
                  <a:srgbClr val="083D5F"/>
                </a:solidFill>
                <a:latin typeface="Inter 28pt 28pt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97754013-3F5D-5667-4633-CE3624BDF7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9434" y="1656954"/>
            <a:ext cx="3870543" cy="1695517"/>
          </a:xfrm>
          <a:prstGeom prst="rect">
            <a:avLst/>
          </a:prstGeom>
        </p:spPr>
        <p:txBody>
          <a:bodyPr/>
          <a:lstStyle>
            <a:lvl1pPr>
              <a:buClr>
                <a:srgbClr val="02A7C2"/>
              </a:buClr>
              <a:defRPr sz="150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1pPr>
            <a:lvl2pPr>
              <a:buClr>
                <a:srgbClr val="02A7C2"/>
              </a:buClr>
              <a:defRPr sz="13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2pPr>
            <a:lvl3pPr>
              <a:buClr>
                <a:srgbClr val="02A7C2"/>
              </a:buClr>
              <a:defRPr sz="120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3pPr>
            <a:lvl4pPr>
              <a:buClr>
                <a:srgbClr val="02A7C2"/>
              </a:buClr>
              <a:defRPr sz="10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4pPr>
            <a:lvl5pPr>
              <a:buClr>
                <a:srgbClr val="02A7C2"/>
              </a:buClr>
              <a:defRPr sz="10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51FD6D0-85E6-0F29-148A-E3623508BFE3}"/>
              </a:ext>
            </a:extLst>
          </p:cNvPr>
          <p:cNvGrpSpPr/>
          <p:nvPr userDrawn="1"/>
        </p:nvGrpSpPr>
        <p:grpSpPr>
          <a:xfrm>
            <a:off x="-59579" y="4708132"/>
            <a:ext cx="9203579" cy="435368"/>
            <a:chOff x="-177760" y="5313949"/>
            <a:chExt cx="12271438" cy="58049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7D21700-D9F4-DE6F-3984-BCBAE1298ACC}"/>
                </a:ext>
              </a:extLst>
            </p:cNvPr>
            <p:cNvSpPr/>
            <p:nvPr userDrawn="1"/>
          </p:nvSpPr>
          <p:spPr>
            <a:xfrm>
              <a:off x="-98322" y="5313949"/>
              <a:ext cx="12192000" cy="580490"/>
            </a:xfrm>
            <a:prstGeom prst="rect">
              <a:avLst/>
            </a:prstGeom>
            <a:gradFill flip="none" rotWithShape="1">
              <a:gsLst>
                <a:gs pos="0">
                  <a:srgbClr val="02A7C2"/>
                </a:gs>
                <a:gs pos="74000">
                  <a:srgbClr val="083D5F"/>
                </a:gs>
                <a:gs pos="83000">
                  <a:srgbClr val="083D5F"/>
                </a:gs>
                <a:gs pos="100000">
                  <a:srgbClr val="083D5F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49278F7-6817-454C-4113-D8F05D50010E}"/>
                </a:ext>
              </a:extLst>
            </p:cNvPr>
            <p:cNvSpPr txBox="1"/>
            <p:nvPr userDrawn="1"/>
          </p:nvSpPr>
          <p:spPr>
            <a:xfrm>
              <a:off x="591048" y="5495653"/>
              <a:ext cx="267784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675" b="1" i="1" baseline="0" err="1">
                  <a:solidFill>
                    <a:schemeClr val="bg1"/>
                  </a:solidFill>
                  <a:effectLst/>
                  <a:latin typeface="Jost Black" pitchFamily="2" charset="77"/>
                </a:rPr>
                <a:t>Verlocity.ai</a:t>
              </a:r>
              <a:endParaRPr lang="en-US" sz="675" i="0" baseline="0">
                <a:solidFill>
                  <a:schemeClr val="bg1"/>
                </a:solidFill>
                <a:effectLst/>
                <a:latin typeface="Jost Black" pitchFamily="2" charset="77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9474BB5-2167-8FFB-E84F-9E8581193B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212" b="21063"/>
            <a:stretch>
              <a:fillRect/>
            </a:stretch>
          </p:blipFill>
          <p:spPr>
            <a:xfrm>
              <a:off x="-177760" y="5314691"/>
              <a:ext cx="843009" cy="579748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3FC5F75-8F92-CEEC-A643-D4234E70487B}"/>
              </a:ext>
            </a:extLst>
          </p:cNvPr>
          <p:cNvSpPr txBox="1"/>
          <p:nvPr userDrawn="1"/>
        </p:nvSpPr>
        <p:spPr>
          <a:xfrm>
            <a:off x="8468475" y="4854539"/>
            <a:ext cx="616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6867525-6404-A442-9564-9FA0C65E9CFE}" type="slidenum">
              <a:rPr lang="en-US" sz="900" smtClean="0">
                <a:solidFill>
                  <a:srgbClr val="02A7C2"/>
                </a:solidFill>
              </a:rPr>
              <a:pPr algn="r"/>
              <a:t>‹#›</a:t>
            </a:fld>
            <a:endParaRPr lang="en-US" sz="900">
              <a:solidFill>
                <a:srgbClr val="02A7C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28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83752EE-0B4E-98FC-1CC6-FBF9AA4C1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93348" y="0"/>
            <a:ext cx="2000250" cy="4462463"/>
          </a:xfrm>
          <a:custGeom>
            <a:avLst/>
            <a:gdLst>
              <a:gd name="connsiteX0" fmla="*/ 0 w 2667000"/>
              <a:gd name="connsiteY0" fmla="*/ 0 h 4800600"/>
              <a:gd name="connsiteX1" fmla="*/ 2667000 w 2667000"/>
              <a:gd name="connsiteY1" fmla="*/ 0 h 4800600"/>
              <a:gd name="connsiteX2" fmla="*/ 2667000 w 2667000"/>
              <a:gd name="connsiteY2" fmla="*/ 4800600 h 4800600"/>
              <a:gd name="connsiteX3" fmla="*/ 0 w 2667000"/>
              <a:gd name="connsiteY3" fmla="*/ 4800600 h 480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7000" h="4800600">
                <a:moveTo>
                  <a:pt x="0" y="0"/>
                </a:moveTo>
                <a:lnTo>
                  <a:pt x="2667000" y="0"/>
                </a:lnTo>
                <a:lnTo>
                  <a:pt x="2667000" y="4800600"/>
                </a:lnTo>
                <a:lnTo>
                  <a:pt x="0" y="4800600"/>
                </a:lnTo>
                <a:close/>
              </a:path>
            </a:pathLst>
          </a:custGeom>
          <a:solidFill>
            <a:schemeClr val="bg1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 lang="en-US" sz="900"/>
            </a:lvl1pPr>
          </a:lstStyle>
          <a:p>
            <a:pPr marL="0" lvl="0" indent="0" algn="ctr">
              <a:buNone/>
            </a:pP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AFDB96-930F-4325-7F04-7AA53225A2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9758" y="120315"/>
            <a:ext cx="1464242" cy="641524"/>
          </a:xfrm>
          <a:prstGeom prst="rect">
            <a:avLst/>
          </a:prstGeom>
        </p:spPr>
      </p:pic>
      <p:sp>
        <p:nvSpPr>
          <p:cNvPr id="19" name="Title 9">
            <a:extLst>
              <a:ext uri="{FF2B5EF4-FFF2-40B4-BE49-F238E27FC236}">
                <a16:creationId xmlns:a16="http://schemas.microsoft.com/office/drawing/2014/main" id="{C792D364-68F5-6FC9-D4D2-15FA89504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440" y="565074"/>
            <a:ext cx="3833747" cy="1060178"/>
          </a:xfrm>
          <a:prstGeom prst="rect">
            <a:avLst/>
          </a:prstGeom>
        </p:spPr>
        <p:txBody>
          <a:bodyPr/>
          <a:lstStyle>
            <a:lvl1pPr>
              <a:defRPr sz="2700" b="1" i="0" baseline="0">
                <a:solidFill>
                  <a:srgbClr val="083D5F"/>
                </a:solidFill>
                <a:latin typeface="Inter 28pt 28pt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DF81F5-4DB5-9565-3EF2-AAFF6CBD9C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9434" y="1656954"/>
            <a:ext cx="3870543" cy="1695517"/>
          </a:xfrm>
          <a:prstGeom prst="rect">
            <a:avLst/>
          </a:prstGeom>
        </p:spPr>
        <p:txBody>
          <a:bodyPr/>
          <a:lstStyle>
            <a:lvl1pPr>
              <a:buClr>
                <a:srgbClr val="02A7C2"/>
              </a:buClr>
              <a:defRPr sz="150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1pPr>
            <a:lvl2pPr>
              <a:buClr>
                <a:srgbClr val="02A7C2"/>
              </a:buClr>
              <a:defRPr sz="13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2pPr>
            <a:lvl3pPr>
              <a:buClr>
                <a:srgbClr val="02A7C2"/>
              </a:buClr>
              <a:defRPr sz="120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3pPr>
            <a:lvl4pPr>
              <a:buClr>
                <a:srgbClr val="02A7C2"/>
              </a:buClr>
              <a:defRPr sz="10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4pPr>
            <a:lvl5pPr>
              <a:buClr>
                <a:srgbClr val="02A7C2"/>
              </a:buClr>
              <a:defRPr sz="10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D8443-B459-BF91-FCCB-A16CF3E541A6}"/>
              </a:ext>
            </a:extLst>
          </p:cNvPr>
          <p:cNvGrpSpPr/>
          <p:nvPr userDrawn="1"/>
        </p:nvGrpSpPr>
        <p:grpSpPr>
          <a:xfrm>
            <a:off x="-59579" y="4708132"/>
            <a:ext cx="9203579" cy="435368"/>
            <a:chOff x="-177760" y="5313949"/>
            <a:chExt cx="12271438" cy="58049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4FA48C0-5850-048A-439C-D18B936A9D40}"/>
                </a:ext>
              </a:extLst>
            </p:cNvPr>
            <p:cNvSpPr/>
            <p:nvPr userDrawn="1"/>
          </p:nvSpPr>
          <p:spPr>
            <a:xfrm>
              <a:off x="-98322" y="5313949"/>
              <a:ext cx="12192000" cy="580490"/>
            </a:xfrm>
            <a:prstGeom prst="rect">
              <a:avLst/>
            </a:prstGeom>
            <a:gradFill flip="none" rotWithShape="1">
              <a:gsLst>
                <a:gs pos="0">
                  <a:srgbClr val="02A7C2"/>
                </a:gs>
                <a:gs pos="74000">
                  <a:srgbClr val="083D5F"/>
                </a:gs>
                <a:gs pos="83000">
                  <a:srgbClr val="083D5F"/>
                </a:gs>
                <a:gs pos="100000">
                  <a:srgbClr val="083D5F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5F4543C-74B5-A6B6-7C70-E381DBEC96F6}"/>
                </a:ext>
              </a:extLst>
            </p:cNvPr>
            <p:cNvSpPr txBox="1"/>
            <p:nvPr userDrawn="1"/>
          </p:nvSpPr>
          <p:spPr>
            <a:xfrm>
              <a:off x="591048" y="5495653"/>
              <a:ext cx="267784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675" b="1" i="1" baseline="0" err="1">
                  <a:solidFill>
                    <a:schemeClr val="bg1"/>
                  </a:solidFill>
                  <a:effectLst/>
                  <a:latin typeface="Jost Black" pitchFamily="2" charset="77"/>
                </a:rPr>
                <a:t>Verlocity.ai</a:t>
              </a:r>
              <a:endParaRPr lang="en-US" sz="675" i="0" baseline="0">
                <a:solidFill>
                  <a:schemeClr val="bg1"/>
                </a:solidFill>
                <a:effectLst/>
                <a:latin typeface="Jost Black" pitchFamily="2" charset="77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1FD59CA-6D0D-5C5F-366C-79C27E26B1D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212" b="21063"/>
            <a:stretch>
              <a:fillRect/>
            </a:stretch>
          </p:blipFill>
          <p:spPr>
            <a:xfrm>
              <a:off x="-177760" y="5314691"/>
              <a:ext cx="843009" cy="579748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834C9B9-F01A-59EE-FE8D-A1D44FAC7284}"/>
              </a:ext>
            </a:extLst>
          </p:cNvPr>
          <p:cNvSpPr txBox="1"/>
          <p:nvPr userDrawn="1"/>
        </p:nvSpPr>
        <p:spPr>
          <a:xfrm>
            <a:off x="8468475" y="4854539"/>
            <a:ext cx="616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6867525-6404-A442-9564-9FA0C65E9CFE}" type="slidenum">
              <a:rPr lang="en-US" sz="900" smtClean="0">
                <a:solidFill>
                  <a:srgbClr val="02A7C2"/>
                </a:solidFill>
              </a:rPr>
              <a:pPr algn="r"/>
              <a:t>‹#›</a:t>
            </a:fld>
            <a:endParaRPr lang="en-US" sz="900">
              <a:solidFill>
                <a:srgbClr val="02A7C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983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558786D-239F-D73A-2FAB-EF2D901313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2839" y="120315"/>
            <a:ext cx="1464242" cy="641524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51423FA9-B252-04FE-86B8-180090B83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169" y="537781"/>
            <a:ext cx="6949787" cy="589562"/>
          </a:xfrm>
          <a:prstGeom prst="rect">
            <a:avLst/>
          </a:prstGeom>
        </p:spPr>
        <p:txBody>
          <a:bodyPr/>
          <a:lstStyle>
            <a:lvl1pPr>
              <a:defRPr sz="2700" b="1" i="0">
                <a:solidFill>
                  <a:srgbClr val="083D5F"/>
                </a:solidFill>
                <a:latin typeface="Inter 28pt 28pt" panose="02000503000000020004" pitchFamily="2" charset="0"/>
                <a:ea typeface="Inter 28pt 28pt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55B4BCBA-09D4-5FDF-5D3A-14676ED404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2278" y="1243596"/>
            <a:ext cx="6890147" cy="1695517"/>
          </a:xfrm>
          <a:prstGeom prst="rect">
            <a:avLst/>
          </a:prstGeom>
        </p:spPr>
        <p:txBody>
          <a:bodyPr/>
          <a:lstStyle>
            <a:lvl1pPr>
              <a:buClr>
                <a:srgbClr val="02A7C2"/>
              </a:buClr>
              <a:defRPr sz="150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1pPr>
            <a:lvl2pPr>
              <a:buClr>
                <a:srgbClr val="02A7C2"/>
              </a:buClr>
              <a:defRPr sz="13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2pPr>
            <a:lvl3pPr>
              <a:buClr>
                <a:srgbClr val="02A7C2"/>
              </a:buClr>
              <a:defRPr sz="120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3pPr>
            <a:lvl4pPr>
              <a:buClr>
                <a:srgbClr val="02A7C2"/>
              </a:buClr>
              <a:defRPr sz="10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4pPr>
            <a:lvl5pPr>
              <a:buClr>
                <a:srgbClr val="02A7C2"/>
              </a:buClr>
              <a:defRPr sz="10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BC5A502-19EE-AB8A-197E-C26DA2F68810}"/>
              </a:ext>
            </a:extLst>
          </p:cNvPr>
          <p:cNvGrpSpPr/>
          <p:nvPr userDrawn="1"/>
        </p:nvGrpSpPr>
        <p:grpSpPr>
          <a:xfrm>
            <a:off x="-59579" y="4708132"/>
            <a:ext cx="9203579" cy="435368"/>
            <a:chOff x="-79438" y="6277510"/>
            <a:chExt cx="12271438" cy="58049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B5C1FCA-47F0-B8C4-4CCE-C103E00B8E79}"/>
                </a:ext>
              </a:extLst>
            </p:cNvPr>
            <p:cNvGrpSpPr/>
            <p:nvPr userDrawn="1"/>
          </p:nvGrpSpPr>
          <p:grpSpPr>
            <a:xfrm>
              <a:off x="0" y="6277510"/>
              <a:ext cx="12192000" cy="580490"/>
              <a:chOff x="0" y="6277510"/>
              <a:chExt cx="12192000" cy="58049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33DBECD-F2AA-9BFC-C1EF-B4508084FBE8}"/>
                  </a:ext>
                </a:extLst>
              </p:cNvPr>
              <p:cNvSpPr/>
              <p:nvPr userDrawn="1"/>
            </p:nvSpPr>
            <p:spPr>
              <a:xfrm>
                <a:off x="0" y="6277510"/>
                <a:ext cx="12192000" cy="580490"/>
              </a:xfrm>
              <a:prstGeom prst="rect">
                <a:avLst/>
              </a:prstGeom>
              <a:gradFill flip="none" rotWithShape="1">
                <a:gsLst>
                  <a:gs pos="0">
                    <a:srgbClr val="02A7C2"/>
                  </a:gs>
                  <a:gs pos="74000">
                    <a:srgbClr val="083D5F"/>
                  </a:gs>
                  <a:gs pos="83000">
                    <a:srgbClr val="083D5F"/>
                  </a:gs>
                  <a:gs pos="100000">
                    <a:srgbClr val="083D5F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5C10F17-07FA-DAB0-69A1-F537F513C687}"/>
                  </a:ext>
                </a:extLst>
              </p:cNvPr>
              <p:cNvSpPr txBox="1"/>
              <p:nvPr userDrawn="1"/>
            </p:nvSpPr>
            <p:spPr>
              <a:xfrm>
                <a:off x="689371" y="6459214"/>
                <a:ext cx="267784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675" b="1" i="1" baseline="0" err="1">
                    <a:solidFill>
                      <a:schemeClr val="bg1"/>
                    </a:solidFill>
                    <a:effectLst/>
                    <a:latin typeface="Jost Black" pitchFamily="2" charset="77"/>
                  </a:rPr>
                  <a:t>Verlocity.ai</a:t>
                </a:r>
                <a:endParaRPr lang="en-US" sz="675" i="0" baseline="0">
                  <a:solidFill>
                    <a:schemeClr val="bg1"/>
                  </a:solidFill>
                  <a:effectLst/>
                  <a:latin typeface="Jost Black" pitchFamily="2" charset="77"/>
                </a:endParaRPr>
              </a:p>
            </p:txBody>
          </p:sp>
        </p:grp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3BE4075-CC32-8D51-769B-2895079CE7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212" b="21063"/>
            <a:stretch>
              <a:fillRect/>
            </a:stretch>
          </p:blipFill>
          <p:spPr>
            <a:xfrm>
              <a:off x="-79438" y="6278252"/>
              <a:ext cx="843009" cy="579748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EACD308-14A7-9B9B-6F7F-300A654511C8}"/>
              </a:ext>
            </a:extLst>
          </p:cNvPr>
          <p:cNvSpPr txBox="1"/>
          <p:nvPr userDrawn="1"/>
        </p:nvSpPr>
        <p:spPr>
          <a:xfrm>
            <a:off x="8468475" y="4854539"/>
            <a:ext cx="616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6867525-6404-A442-9564-9FA0C65E9CFE}" type="slidenum">
              <a:rPr lang="en-US" sz="900" smtClean="0">
                <a:solidFill>
                  <a:srgbClr val="02A7C2"/>
                </a:solidFill>
              </a:rPr>
              <a:pPr algn="r"/>
              <a:t>‹#›</a:t>
            </a:fld>
            <a:endParaRPr lang="en-US" sz="900">
              <a:solidFill>
                <a:srgbClr val="02A7C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13609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E039A9-C31A-13A5-1740-144E7C6A7A1A}"/>
              </a:ext>
            </a:extLst>
          </p:cNvPr>
          <p:cNvSpPr txBox="1"/>
          <p:nvPr userDrawn="1"/>
        </p:nvSpPr>
        <p:spPr>
          <a:xfrm>
            <a:off x="8468475" y="4854539"/>
            <a:ext cx="616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6867525-6404-A442-9564-9FA0C65E9CFE}" type="slidenum">
              <a:rPr lang="en-US" sz="900" smtClean="0">
                <a:solidFill>
                  <a:srgbClr val="02A7C2"/>
                </a:solidFill>
              </a:rPr>
              <a:pPr algn="r"/>
              <a:t>‹#›</a:t>
            </a:fld>
            <a:endParaRPr lang="en-US" sz="900">
              <a:solidFill>
                <a:srgbClr val="02A7C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6683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627B0B82-2096-4B7B-1B90-44CFA2426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439" y="471129"/>
            <a:ext cx="6952728" cy="881683"/>
          </a:xfrm>
          <a:prstGeom prst="rect">
            <a:avLst/>
          </a:prstGeom>
        </p:spPr>
        <p:txBody>
          <a:bodyPr/>
          <a:lstStyle>
            <a:lvl1pPr>
              <a:defRPr sz="2700" b="1" i="0" baseline="0">
                <a:solidFill>
                  <a:schemeClr val="tx1"/>
                </a:solidFill>
                <a:latin typeface="Inter 28pt 28pt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E3B5445-F1AA-1ECF-8317-93B683CA4B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9434" y="1534825"/>
            <a:ext cx="3870543" cy="1695517"/>
          </a:xfrm>
          <a:prstGeom prst="rect">
            <a:avLst/>
          </a:prstGeom>
        </p:spPr>
        <p:txBody>
          <a:bodyPr/>
          <a:lstStyle>
            <a:lvl1pPr>
              <a:buClr>
                <a:srgbClr val="02A7C2"/>
              </a:buClr>
              <a:defRPr sz="150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1pPr>
            <a:lvl2pPr>
              <a:buClr>
                <a:srgbClr val="02A7C2"/>
              </a:buClr>
              <a:defRPr sz="13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2pPr>
            <a:lvl3pPr>
              <a:buClr>
                <a:srgbClr val="02A7C2"/>
              </a:buClr>
              <a:defRPr sz="120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3pPr>
            <a:lvl4pPr>
              <a:buClr>
                <a:srgbClr val="02A7C2"/>
              </a:buClr>
              <a:defRPr sz="10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4pPr>
            <a:lvl5pPr>
              <a:buClr>
                <a:srgbClr val="02A7C2"/>
              </a:buClr>
              <a:defRPr sz="10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323AF70-5DE8-E06A-2F75-01D6486175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146" y="97199"/>
            <a:ext cx="1539854" cy="67465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735C661-CCB2-879C-CB47-AEEDC7CE3099}"/>
              </a:ext>
            </a:extLst>
          </p:cNvPr>
          <p:cNvGrpSpPr/>
          <p:nvPr userDrawn="1"/>
        </p:nvGrpSpPr>
        <p:grpSpPr>
          <a:xfrm>
            <a:off x="-59579" y="4708132"/>
            <a:ext cx="9203579" cy="435368"/>
            <a:chOff x="-79438" y="6277510"/>
            <a:chExt cx="12271438" cy="58049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518695C-AB06-D303-AB66-5522FCD7E468}"/>
                </a:ext>
              </a:extLst>
            </p:cNvPr>
            <p:cNvGrpSpPr/>
            <p:nvPr userDrawn="1"/>
          </p:nvGrpSpPr>
          <p:grpSpPr>
            <a:xfrm>
              <a:off x="0" y="6277510"/>
              <a:ext cx="12192000" cy="580490"/>
              <a:chOff x="0" y="6277510"/>
              <a:chExt cx="12192000" cy="58049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A67D917-08F8-005D-1389-025846940683}"/>
                  </a:ext>
                </a:extLst>
              </p:cNvPr>
              <p:cNvSpPr/>
              <p:nvPr userDrawn="1"/>
            </p:nvSpPr>
            <p:spPr>
              <a:xfrm>
                <a:off x="0" y="6277510"/>
                <a:ext cx="12192000" cy="580490"/>
              </a:xfrm>
              <a:prstGeom prst="rect">
                <a:avLst/>
              </a:prstGeom>
              <a:gradFill flip="none" rotWithShape="1">
                <a:gsLst>
                  <a:gs pos="0">
                    <a:srgbClr val="02A7C2"/>
                  </a:gs>
                  <a:gs pos="74000">
                    <a:srgbClr val="083D5F"/>
                  </a:gs>
                  <a:gs pos="83000">
                    <a:srgbClr val="083D5F"/>
                  </a:gs>
                  <a:gs pos="100000">
                    <a:srgbClr val="083D5F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17B2995-ED77-5B36-C58C-C82F3991F213}"/>
                  </a:ext>
                </a:extLst>
              </p:cNvPr>
              <p:cNvSpPr txBox="1"/>
              <p:nvPr userDrawn="1"/>
            </p:nvSpPr>
            <p:spPr>
              <a:xfrm>
                <a:off x="689371" y="6459214"/>
                <a:ext cx="267784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675" b="1" i="1" baseline="0" err="1">
                    <a:solidFill>
                      <a:schemeClr val="bg1"/>
                    </a:solidFill>
                    <a:effectLst/>
                    <a:latin typeface="Jost Black" pitchFamily="2" charset="77"/>
                  </a:rPr>
                  <a:t>Verlocity.ai</a:t>
                </a:r>
                <a:endParaRPr lang="en-US" sz="675" i="0" baseline="0">
                  <a:solidFill>
                    <a:schemeClr val="bg1"/>
                  </a:solidFill>
                  <a:effectLst/>
                  <a:latin typeface="Jost Black" pitchFamily="2" charset="77"/>
                </a:endParaRPr>
              </a:p>
            </p:txBody>
          </p:sp>
        </p:grp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1CB5385-9045-A523-868C-E82D27DA3D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212" b="21063"/>
            <a:stretch>
              <a:fillRect/>
            </a:stretch>
          </p:blipFill>
          <p:spPr>
            <a:xfrm>
              <a:off x="-79438" y="6278252"/>
              <a:ext cx="843009" cy="579748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11ECEC7-CA3B-12A4-4A56-73A92557E7F3}"/>
              </a:ext>
            </a:extLst>
          </p:cNvPr>
          <p:cNvSpPr txBox="1"/>
          <p:nvPr userDrawn="1"/>
        </p:nvSpPr>
        <p:spPr>
          <a:xfrm>
            <a:off x="8468475" y="4854539"/>
            <a:ext cx="616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6867525-6404-A442-9564-9FA0C65E9CFE}" type="slidenum">
              <a:rPr lang="en-US" sz="900" smtClean="0">
                <a:solidFill>
                  <a:srgbClr val="02A7C2"/>
                </a:solidFill>
              </a:rPr>
              <a:pPr algn="r"/>
              <a:t>‹#›</a:t>
            </a:fld>
            <a:endParaRPr lang="en-US" sz="900">
              <a:solidFill>
                <a:srgbClr val="02A7C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93211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0BE3830-C495-7844-7603-522AAF1E4F4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69882" y="0"/>
            <a:ext cx="3074118" cy="5143500"/>
          </a:xfrm>
          <a:custGeom>
            <a:avLst/>
            <a:gdLst>
              <a:gd name="connsiteX0" fmla="*/ 0 w 4098824"/>
              <a:gd name="connsiteY0" fmla="*/ 0 h 5829300"/>
              <a:gd name="connsiteX1" fmla="*/ 4098824 w 4098824"/>
              <a:gd name="connsiteY1" fmla="*/ 0 h 5829300"/>
              <a:gd name="connsiteX2" fmla="*/ 4098824 w 4098824"/>
              <a:gd name="connsiteY2" fmla="*/ 5829300 h 5829300"/>
              <a:gd name="connsiteX3" fmla="*/ 0 w 4098824"/>
              <a:gd name="connsiteY3" fmla="*/ 5829300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98824" h="5829300">
                <a:moveTo>
                  <a:pt x="0" y="0"/>
                </a:moveTo>
                <a:lnTo>
                  <a:pt x="4098824" y="0"/>
                </a:lnTo>
                <a:lnTo>
                  <a:pt x="4098824" y="5829300"/>
                </a:lnTo>
                <a:lnTo>
                  <a:pt x="0" y="5829300"/>
                </a:lnTo>
                <a:close/>
              </a:path>
            </a:pathLst>
          </a:custGeom>
          <a:solidFill>
            <a:schemeClr val="bg1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 lang="en-US" sz="900"/>
            </a:lvl1pPr>
          </a:lstStyle>
          <a:p>
            <a:pPr marL="0" lvl="0" indent="0" algn="ctr">
              <a:buNone/>
            </a:pP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CD69C0-0F5D-7F39-AE42-7160E06652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4655" y="120315"/>
            <a:ext cx="1464242" cy="641524"/>
          </a:xfrm>
          <a:prstGeom prst="rect">
            <a:avLst/>
          </a:prstGeom>
        </p:spPr>
      </p:pic>
      <p:sp>
        <p:nvSpPr>
          <p:cNvPr id="15" name="Title 9">
            <a:extLst>
              <a:ext uri="{FF2B5EF4-FFF2-40B4-BE49-F238E27FC236}">
                <a16:creationId xmlns:a16="http://schemas.microsoft.com/office/drawing/2014/main" id="{84853E74-2C95-263A-20FA-B2E5EEA29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440" y="565074"/>
            <a:ext cx="5017457" cy="590453"/>
          </a:xfrm>
          <a:prstGeom prst="rect">
            <a:avLst/>
          </a:prstGeom>
        </p:spPr>
        <p:txBody>
          <a:bodyPr/>
          <a:lstStyle>
            <a:lvl1pPr>
              <a:defRPr sz="2700" b="1" i="0" baseline="0">
                <a:solidFill>
                  <a:srgbClr val="083D5F"/>
                </a:solidFill>
                <a:latin typeface="Inter 28pt 28pt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0E2D500-19B8-E14E-22FE-6F54BA3AC1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434" y="1271779"/>
            <a:ext cx="5082435" cy="1695517"/>
          </a:xfrm>
          <a:prstGeom prst="rect">
            <a:avLst/>
          </a:prstGeom>
        </p:spPr>
        <p:txBody>
          <a:bodyPr/>
          <a:lstStyle>
            <a:lvl1pPr>
              <a:buClr>
                <a:srgbClr val="02A7C2"/>
              </a:buClr>
              <a:defRPr sz="150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1pPr>
            <a:lvl2pPr>
              <a:buClr>
                <a:srgbClr val="02A7C2"/>
              </a:buClr>
              <a:defRPr sz="13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2pPr>
            <a:lvl3pPr>
              <a:buClr>
                <a:srgbClr val="02A7C2"/>
              </a:buClr>
              <a:defRPr sz="120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3pPr>
            <a:lvl4pPr>
              <a:buClr>
                <a:srgbClr val="02A7C2"/>
              </a:buClr>
              <a:defRPr sz="10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4pPr>
            <a:lvl5pPr>
              <a:buClr>
                <a:srgbClr val="02A7C2"/>
              </a:buClr>
              <a:defRPr sz="10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F4B53CF-36FB-E5D0-119C-EFD7CA4B4C98}"/>
              </a:ext>
            </a:extLst>
          </p:cNvPr>
          <p:cNvGrpSpPr/>
          <p:nvPr userDrawn="1"/>
        </p:nvGrpSpPr>
        <p:grpSpPr>
          <a:xfrm>
            <a:off x="-59579" y="4708132"/>
            <a:ext cx="9203579" cy="435368"/>
            <a:chOff x="-79438" y="6277510"/>
            <a:chExt cx="12271438" cy="58049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5E9188A-1A11-8317-4412-CD4FB68DE314}"/>
                </a:ext>
              </a:extLst>
            </p:cNvPr>
            <p:cNvGrpSpPr/>
            <p:nvPr userDrawn="1"/>
          </p:nvGrpSpPr>
          <p:grpSpPr>
            <a:xfrm>
              <a:off x="0" y="6277510"/>
              <a:ext cx="12192000" cy="580490"/>
              <a:chOff x="0" y="6277510"/>
              <a:chExt cx="12192000" cy="58049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C6F6A1B-B640-8858-956F-7CD7CBBB7F3B}"/>
                  </a:ext>
                </a:extLst>
              </p:cNvPr>
              <p:cNvSpPr/>
              <p:nvPr userDrawn="1"/>
            </p:nvSpPr>
            <p:spPr>
              <a:xfrm>
                <a:off x="0" y="6277510"/>
                <a:ext cx="12192000" cy="580490"/>
              </a:xfrm>
              <a:prstGeom prst="rect">
                <a:avLst/>
              </a:prstGeom>
              <a:gradFill flip="none" rotWithShape="1">
                <a:gsLst>
                  <a:gs pos="0">
                    <a:srgbClr val="02A7C2"/>
                  </a:gs>
                  <a:gs pos="74000">
                    <a:srgbClr val="083D5F"/>
                  </a:gs>
                  <a:gs pos="83000">
                    <a:srgbClr val="083D5F"/>
                  </a:gs>
                  <a:gs pos="100000">
                    <a:srgbClr val="083D5F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083B8B2-A970-D340-7610-85E8066ECA11}"/>
                  </a:ext>
                </a:extLst>
              </p:cNvPr>
              <p:cNvSpPr txBox="1"/>
              <p:nvPr userDrawn="1"/>
            </p:nvSpPr>
            <p:spPr>
              <a:xfrm>
                <a:off x="689371" y="6459214"/>
                <a:ext cx="267784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675" b="1" i="1" baseline="0" err="1">
                    <a:solidFill>
                      <a:schemeClr val="bg1"/>
                    </a:solidFill>
                    <a:effectLst/>
                    <a:latin typeface="Jost Black" pitchFamily="2" charset="77"/>
                  </a:rPr>
                  <a:t>Verlocity.ai</a:t>
                </a:r>
                <a:endParaRPr lang="en-US" sz="675" i="0" baseline="0">
                  <a:solidFill>
                    <a:schemeClr val="bg1"/>
                  </a:solidFill>
                  <a:effectLst/>
                  <a:latin typeface="Jost Black" pitchFamily="2" charset="77"/>
                </a:endParaRPr>
              </a:p>
            </p:txBody>
          </p:sp>
        </p:grp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8D3577E-2D85-93FE-2718-326886AB754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212" b="21063"/>
            <a:stretch>
              <a:fillRect/>
            </a:stretch>
          </p:blipFill>
          <p:spPr>
            <a:xfrm>
              <a:off x="-79438" y="6278252"/>
              <a:ext cx="843009" cy="579748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605FD54-905C-6209-A2FD-796DACC1A460}"/>
              </a:ext>
            </a:extLst>
          </p:cNvPr>
          <p:cNvSpPr txBox="1"/>
          <p:nvPr userDrawn="1"/>
        </p:nvSpPr>
        <p:spPr>
          <a:xfrm>
            <a:off x="8468475" y="4854539"/>
            <a:ext cx="616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6867525-6404-A442-9564-9FA0C65E9CFE}" type="slidenum">
              <a:rPr lang="en-US" sz="900" smtClean="0">
                <a:solidFill>
                  <a:srgbClr val="02A7C2"/>
                </a:solidFill>
              </a:rPr>
              <a:pPr algn="r"/>
              <a:t>‹#›</a:t>
            </a:fld>
            <a:endParaRPr lang="en-US" sz="900">
              <a:solidFill>
                <a:srgbClr val="02A7C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21760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732C89F-39C8-5D11-6CFC-8D1B22A925B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572000" cy="2848708"/>
          </a:xfrm>
          <a:custGeom>
            <a:avLst/>
            <a:gdLst>
              <a:gd name="connsiteX0" fmla="*/ 0 w 5372100"/>
              <a:gd name="connsiteY0" fmla="*/ 0 h 4114800"/>
              <a:gd name="connsiteX1" fmla="*/ 5372100 w 5372100"/>
              <a:gd name="connsiteY1" fmla="*/ 0 h 4114800"/>
              <a:gd name="connsiteX2" fmla="*/ 5372100 w 5372100"/>
              <a:gd name="connsiteY2" fmla="*/ 4114800 h 4114800"/>
              <a:gd name="connsiteX3" fmla="*/ 0 w 5372100"/>
              <a:gd name="connsiteY3" fmla="*/ 4114800 h 411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72100" h="4114800">
                <a:moveTo>
                  <a:pt x="0" y="0"/>
                </a:moveTo>
                <a:lnTo>
                  <a:pt x="5372100" y="0"/>
                </a:lnTo>
                <a:lnTo>
                  <a:pt x="5372100" y="4114800"/>
                </a:lnTo>
                <a:lnTo>
                  <a:pt x="0" y="4114800"/>
                </a:lnTo>
                <a:close/>
              </a:path>
            </a:pathLst>
          </a:custGeom>
          <a:solidFill>
            <a:schemeClr val="bg1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 lang="en-US" sz="900"/>
            </a:lvl1pPr>
          </a:lstStyle>
          <a:p>
            <a:pPr marL="0" lvl="0" indent="0" algn="ctr">
              <a:buNone/>
            </a:pP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AD5458-23AA-DE8B-EECA-A6D1308F83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8332" y="66048"/>
            <a:ext cx="1464242" cy="641524"/>
          </a:xfrm>
          <a:prstGeom prst="rect">
            <a:avLst/>
          </a:prstGeom>
        </p:spPr>
      </p:pic>
      <p:sp>
        <p:nvSpPr>
          <p:cNvPr id="13" name="Title 9">
            <a:extLst>
              <a:ext uri="{FF2B5EF4-FFF2-40B4-BE49-F238E27FC236}">
                <a16:creationId xmlns:a16="http://schemas.microsoft.com/office/drawing/2014/main" id="{6B1479CD-4A9C-866F-A8CA-888189AE4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1946" y="1232086"/>
            <a:ext cx="3833747" cy="1407776"/>
          </a:xfrm>
          <a:prstGeom prst="rect">
            <a:avLst/>
          </a:prstGeom>
        </p:spPr>
        <p:txBody>
          <a:bodyPr/>
          <a:lstStyle>
            <a:lvl1pPr>
              <a:defRPr sz="2700" b="1" i="0" baseline="0">
                <a:solidFill>
                  <a:srgbClr val="083D5F"/>
                </a:solidFill>
                <a:latin typeface="Inter 28pt 28pt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A56788E7-792F-D6F6-8641-00E22D5C39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03940" y="2295783"/>
            <a:ext cx="3870543" cy="1695517"/>
          </a:xfrm>
          <a:prstGeom prst="rect">
            <a:avLst/>
          </a:prstGeom>
        </p:spPr>
        <p:txBody>
          <a:bodyPr/>
          <a:lstStyle>
            <a:lvl1pPr>
              <a:buClr>
                <a:srgbClr val="02A7C2"/>
              </a:buClr>
              <a:defRPr sz="150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1pPr>
            <a:lvl2pPr>
              <a:buClr>
                <a:srgbClr val="02A7C2"/>
              </a:buClr>
              <a:defRPr sz="13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2pPr>
            <a:lvl3pPr>
              <a:buClr>
                <a:srgbClr val="02A7C2"/>
              </a:buClr>
              <a:defRPr sz="120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3pPr>
            <a:lvl4pPr>
              <a:buClr>
                <a:srgbClr val="02A7C2"/>
              </a:buClr>
              <a:defRPr sz="10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4pPr>
            <a:lvl5pPr>
              <a:buClr>
                <a:srgbClr val="02A7C2"/>
              </a:buClr>
              <a:defRPr sz="10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DC3030E-3EFF-DE42-A3EC-3448185F9065}"/>
              </a:ext>
            </a:extLst>
          </p:cNvPr>
          <p:cNvGrpSpPr/>
          <p:nvPr userDrawn="1"/>
        </p:nvGrpSpPr>
        <p:grpSpPr>
          <a:xfrm>
            <a:off x="-59579" y="4708132"/>
            <a:ext cx="9203579" cy="435368"/>
            <a:chOff x="-79438" y="6277510"/>
            <a:chExt cx="12271438" cy="58049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EC70032-A521-46E3-A888-8C87489A5FC0}"/>
                </a:ext>
              </a:extLst>
            </p:cNvPr>
            <p:cNvGrpSpPr/>
            <p:nvPr userDrawn="1"/>
          </p:nvGrpSpPr>
          <p:grpSpPr>
            <a:xfrm>
              <a:off x="0" y="6277510"/>
              <a:ext cx="12192000" cy="580490"/>
              <a:chOff x="0" y="6277510"/>
              <a:chExt cx="12192000" cy="58049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EDF5569-AF49-09D1-32E2-8D174EA7D9B5}"/>
                  </a:ext>
                </a:extLst>
              </p:cNvPr>
              <p:cNvSpPr/>
              <p:nvPr userDrawn="1"/>
            </p:nvSpPr>
            <p:spPr>
              <a:xfrm>
                <a:off x="0" y="6277510"/>
                <a:ext cx="12192000" cy="580490"/>
              </a:xfrm>
              <a:prstGeom prst="rect">
                <a:avLst/>
              </a:prstGeom>
              <a:gradFill flip="none" rotWithShape="1">
                <a:gsLst>
                  <a:gs pos="0">
                    <a:srgbClr val="02A7C2"/>
                  </a:gs>
                  <a:gs pos="74000">
                    <a:srgbClr val="083D5F"/>
                  </a:gs>
                  <a:gs pos="83000">
                    <a:srgbClr val="083D5F"/>
                  </a:gs>
                  <a:gs pos="100000">
                    <a:srgbClr val="083D5F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1D315C9-F00A-B040-8A64-066E32AFFE1E}"/>
                  </a:ext>
                </a:extLst>
              </p:cNvPr>
              <p:cNvSpPr txBox="1"/>
              <p:nvPr userDrawn="1"/>
            </p:nvSpPr>
            <p:spPr>
              <a:xfrm>
                <a:off x="689371" y="6459214"/>
                <a:ext cx="267784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675" b="1" i="1" baseline="0" err="1">
                    <a:solidFill>
                      <a:schemeClr val="bg1"/>
                    </a:solidFill>
                    <a:effectLst/>
                    <a:latin typeface="Jost Black" pitchFamily="2" charset="77"/>
                  </a:rPr>
                  <a:t>Verlocity.ai</a:t>
                </a:r>
                <a:endParaRPr lang="en-US" sz="675" i="0" baseline="0">
                  <a:solidFill>
                    <a:schemeClr val="bg1"/>
                  </a:solidFill>
                  <a:effectLst/>
                  <a:latin typeface="Jost Black" pitchFamily="2" charset="77"/>
                </a:endParaRPr>
              </a:p>
            </p:txBody>
          </p:sp>
        </p:grp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1084D2E-A50D-DEF5-520F-09766DAF9E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212" b="21063"/>
            <a:stretch>
              <a:fillRect/>
            </a:stretch>
          </p:blipFill>
          <p:spPr>
            <a:xfrm>
              <a:off x="-79438" y="6278252"/>
              <a:ext cx="843009" cy="579748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9222137-EC91-D02F-A18A-B89D3C6C9B8B}"/>
              </a:ext>
            </a:extLst>
          </p:cNvPr>
          <p:cNvSpPr txBox="1"/>
          <p:nvPr userDrawn="1"/>
        </p:nvSpPr>
        <p:spPr>
          <a:xfrm>
            <a:off x="8468475" y="4854539"/>
            <a:ext cx="616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6867525-6404-A442-9564-9FA0C65E9CFE}" type="slidenum">
              <a:rPr lang="en-US" sz="900" smtClean="0">
                <a:solidFill>
                  <a:srgbClr val="02A7C2"/>
                </a:solidFill>
              </a:rPr>
              <a:pPr algn="r"/>
              <a:t>‹#›</a:t>
            </a:fld>
            <a:endParaRPr lang="en-US" sz="900">
              <a:solidFill>
                <a:srgbClr val="02A7C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24300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FA0E28B-3BDF-4CA9-8778-E35012540FD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571750"/>
            <a:ext cx="9144000" cy="257175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75000"/>
              <a:alpha val="2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069E80-C394-F992-F74B-F139D1479F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8332" y="66048"/>
            <a:ext cx="1464242" cy="641524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157BFC65-0960-FE63-F8A6-C4BB0434B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169" y="537781"/>
            <a:ext cx="6949787" cy="589562"/>
          </a:xfrm>
          <a:prstGeom prst="rect">
            <a:avLst/>
          </a:prstGeom>
        </p:spPr>
        <p:txBody>
          <a:bodyPr/>
          <a:lstStyle>
            <a:lvl1pPr>
              <a:defRPr sz="2700" b="1" i="0">
                <a:solidFill>
                  <a:srgbClr val="083D5F"/>
                </a:solidFill>
                <a:latin typeface="Inter 28pt 28pt" panose="02000503000000020004" pitchFamily="2" charset="0"/>
                <a:ea typeface="Inter 28pt 28pt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1B8E2F01-DBAD-8622-9103-CE0BBA7017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2278" y="1243596"/>
            <a:ext cx="6890147" cy="1695517"/>
          </a:xfrm>
          <a:prstGeom prst="rect">
            <a:avLst/>
          </a:prstGeom>
        </p:spPr>
        <p:txBody>
          <a:bodyPr/>
          <a:lstStyle>
            <a:lvl1pPr>
              <a:buClr>
                <a:srgbClr val="02A7C2"/>
              </a:buClr>
              <a:defRPr sz="150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1pPr>
            <a:lvl2pPr>
              <a:buClr>
                <a:srgbClr val="02A7C2"/>
              </a:buClr>
              <a:defRPr sz="13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2pPr>
            <a:lvl3pPr>
              <a:buClr>
                <a:srgbClr val="02A7C2"/>
              </a:buClr>
              <a:defRPr sz="120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3pPr>
            <a:lvl4pPr>
              <a:buClr>
                <a:srgbClr val="02A7C2"/>
              </a:buClr>
              <a:defRPr sz="10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4pPr>
            <a:lvl5pPr>
              <a:buClr>
                <a:srgbClr val="02A7C2"/>
              </a:buClr>
              <a:defRPr sz="10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C480513-93B6-9404-AE53-D9ED5CB3BA1C}"/>
              </a:ext>
            </a:extLst>
          </p:cNvPr>
          <p:cNvGrpSpPr/>
          <p:nvPr userDrawn="1"/>
        </p:nvGrpSpPr>
        <p:grpSpPr>
          <a:xfrm>
            <a:off x="-59579" y="4708132"/>
            <a:ext cx="9203579" cy="435368"/>
            <a:chOff x="-79438" y="6277510"/>
            <a:chExt cx="12271438" cy="58049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F9B3827-117F-C7BC-5744-E20D28826142}"/>
                </a:ext>
              </a:extLst>
            </p:cNvPr>
            <p:cNvGrpSpPr/>
            <p:nvPr userDrawn="1"/>
          </p:nvGrpSpPr>
          <p:grpSpPr>
            <a:xfrm>
              <a:off x="0" y="6277510"/>
              <a:ext cx="12192000" cy="580490"/>
              <a:chOff x="0" y="6277510"/>
              <a:chExt cx="12192000" cy="58049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9BFA723-6A7D-627C-2143-8411CACF84A4}"/>
                  </a:ext>
                </a:extLst>
              </p:cNvPr>
              <p:cNvSpPr/>
              <p:nvPr userDrawn="1"/>
            </p:nvSpPr>
            <p:spPr>
              <a:xfrm>
                <a:off x="0" y="6277510"/>
                <a:ext cx="12192000" cy="580490"/>
              </a:xfrm>
              <a:prstGeom prst="rect">
                <a:avLst/>
              </a:prstGeom>
              <a:gradFill flip="none" rotWithShape="1">
                <a:gsLst>
                  <a:gs pos="0">
                    <a:srgbClr val="02A7C2"/>
                  </a:gs>
                  <a:gs pos="74000">
                    <a:srgbClr val="083D5F"/>
                  </a:gs>
                  <a:gs pos="83000">
                    <a:srgbClr val="083D5F"/>
                  </a:gs>
                  <a:gs pos="100000">
                    <a:srgbClr val="083D5F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C9EC0DC-0C39-3C46-174A-5810F6A01E61}"/>
                  </a:ext>
                </a:extLst>
              </p:cNvPr>
              <p:cNvSpPr txBox="1"/>
              <p:nvPr userDrawn="1"/>
            </p:nvSpPr>
            <p:spPr>
              <a:xfrm>
                <a:off x="689371" y="6459214"/>
                <a:ext cx="267784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675" b="1" i="1" baseline="0" err="1">
                    <a:solidFill>
                      <a:schemeClr val="bg1"/>
                    </a:solidFill>
                    <a:effectLst/>
                    <a:latin typeface="Jost Black" pitchFamily="2" charset="77"/>
                  </a:rPr>
                  <a:t>Verlocity.ai</a:t>
                </a:r>
                <a:endParaRPr lang="en-US" sz="675" i="0" baseline="0">
                  <a:solidFill>
                    <a:schemeClr val="bg1"/>
                  </a:solidFill>
                  <a:effectLst/>
                  <a:latin typeface="Jost Black" pitchFamily="2" charset="77"/>
                </a:endParaRPr>
              </a:p>
            </p:txBody>
          </p:sp>
        </p:grp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A51C1B6-E52A-F940-47A1-D828795AD7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212" b="21063"/>
            <a:stretch>
              <a:fillRect/>
            </a:stretch>
          </p:blipFill>
          <p:spPr>
            <a:xfrm>
              <a:off x="-79438" y="6278252"/>
              <a:ext cx="843009" cy="579748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B5EBBF2-EC45-D51B-8CB7-2C59EE3E58CD}"/>
              </a:ext>
            </a:extLst>
          </p:cNvPr>
          <p:cNvSpPr txBox="1"/>
          <p:nvPr userDrawn="1"/>
        </p:nvSpPr>
        <p:spPr>
          <a:xfrm>
            <a:off x="8468475" y="4854539"/>
            <a:ext cx="616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6867525-6404-A442-9564-9FA0C65E9CFE}" type="slidenum">
              <a:rPr lang="en-US" sz="900" smtClean="0">
                <a:solidFill>
                  <a:srgbClr val="02A7C2"/>
                </a:solidFill>
              </a:rPr>
              <a:pPr algn="r"/>
              <a:t>‹#›</a:t>
            </a:fld>
            <a:endParaRPr lang="en-US" sz="900">
              <a:solidFill>
                <a:srgbClr val="02A7C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4688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48DAE2D-1EB6-3B63-2B0E-0A5F0B816374}"/>
              </a:ext>
            </a:extLst>
          </p:cNvPr>
          <p:cNvGrpSpPr/>
          <p:nvPr userDrawn="1"/>
        </p:nvGrpSpPr>
        <p:grpSpPr>
          <a:xfrm>
            <a:off x="-59579" y="4708132"/>
            <a:ext cx="9203579" cy="435368"/>
            <a:chOff x="-79438" y="6277510"/>
            <a:chExt cx="12271438" cy="58049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BD79F57-994E-3498-680B-C5884AC528C8}"/>
                </a:ext>
              </a:extLst>
            </p:cNvPr>
            <p:cNvGrpSpPr/>
            <p:nvPr userDrawn="1"/>
          </p:nvGrpSpPr>
          <p:grpSpPr>
            <a:xfrm>
              <a:off x="0" y="6277510"/>
              <a:ext cx="12192000" cy="580490"/>
              <a:chOff x="0" y="6277510"/>
              <a:chExt cx="12192000" cy="58049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C2BBAAE-9E7E-E70F-3C9D-D8FFC2E1DFEA}"/>
                  </a:ext>
                </a:extLst>
              </p:cNvPr>
              <p:cNvSpPr/>
              <p:nvPr userDrawn="1"/>
            </p:nvSpPr>
            <p:spPr>
              <a:xfrm>
                <a:off x="0" y="6277510"/>
                <a:ext cx="12192000" cy="580490"/>
              </a:xfrm>
              <a:prstGeom prst="rect">
                <a:avLst/>
              </a:prstGeom>
              <a:gradFill flip="none" rotWithShape="1">
                <a:gsLst>
                  <a:gs pos="0">
                    <a:srgbClr val="02A7C2"/>
                  </a:gs>
                  <a:gs pos="74000">
                    <a:srgbClr val="083D5F"/>
                  </a:gs>
                  <a:gs pos="83000">
                    <a:srgbClr val="083D5F"/>
                  </a:gs>
                  <a:gs pos="100000">
                    <a:srgbClr val="083D5F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8D4EAB-7854-FF2E-15AF-08DEE68D5BA2}"/>
                  </a:ext>
                </a:extLst>
              </p:cNvPr>
              <p:cNvSpPr txBox="1"/>
              <p:nvPr userDrawn="1"/>
            </p:nvSpPr>
            <p:spPr>
              <a:xfrm>
                <a:off x="689371" y="6459214"/>
                <a:ext cx="267784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675" b="1" i="1" baseline="0" err="1">
                    <a:solidFill>
                      <a:schemeClr val="bg1"/>
                    </a:solidFill>
                    <a:effectLst/>
                    <a:latin typeface="Jost Black" pitchFamily="2" charset="77"/>
                  </a:rPr>
                  <a:t>Verlocity.ai</a:t>
                </a:r>
                <a:endParaRPr lang="en-US" sz="675" i="0" baseline="0">
                  <a:solidFill>
                    <a:schemeClr val="bg1"/>
                  </a:solidFill>
                  <a:effectLst/>
                  <a:latin typeface="Jost Black" pitchFamily="2" charset="77"/>
                </a:endParaRPr>
              </a:p>
            </p:txBody>
          </p:sp>
        </p:grp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8FB664B-2314-F199-1E71-EB54FC2A9F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212" b="21063"/>
            <a:stretch>
              <a:fillRect/>
            </a:stretch>
          </p:blipFill>
          <p:spPr>
            <a:xfrm>
              <a:off x="-79438" y="6278252"/>
              <a:ext cx="843009" cy="579748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55B7E4F-AA21-A282-DF0A-4E80038D8261}"/>
              </a:ext>
            </a:extLst>
          </p:cNvPr>
          <p:cNvSpPr txBox="1"/>
          <p:nvPr userDrawn="1"/>
        </p:nvSpPr>
        <p:spPr>
          <a:xfrm>
            <a:off x="8468475" y="4854539"/>
            <a:ext cx="616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6867525-6404-A442-9564-9FA0C65E9CFE}" type="slidenum">
              <a:rPr lang="en-US" sz="900" smtClean="0">
                <a:solidFill>
                  <a:srgbClr val="02A7C2"/>
                </a:solidFill>
              </a:rPr>
              <a:pPr algn="r"/>
              <a:t>‹#›</a:t>
            </a:fld>
            <a:endParaRPr lang="en-US" sz="900">
              <a:solidFill>
                <a:srgbClr val="02A7C2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0483DE-2369-C557-1E7C-DF274290344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9758" y="66048"/>
            <a:ext cx="1464242" cy="641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8617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658405F-DA89-008A-BF2C-F0861525F63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4787" y="2400300"/>
            <a:ext cx="5129213" cy="2743200"/>
          </a:xfrm>
          <a:custGeom>
            <a:avLst/>
            <a:gdLst>
              <a:gd name="connsiteX0" fmla="*/ 0 w 6838950"/>
              <a:gd name="connsiteY0" fmla="*/ 0 h 3657600"/>
              <a:gd name="connsiteX1" fmla="*/ 6838950 w 6838950"/>
              <a:gd name="connsiteY1" fmla="*/ 0 h 3657600"/>
              <a:gd name="connsiteX2" fmla="*/ 6838950 w 6838950"/>
              <a:gd name="connsiteY2" fmla="*/ 3657600 h 3657600"/>
              <a:gd name="connsiteX3" fmla="*/ 0 w 6838950"/>
              <a:gd name="connsiteY3" fmla="*/ 3657600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8950" h="3657600">
                <a:moveTo>
                  <a:pt x="0" y="0"/>
                </a:moveTo>
                <a:lnTo>
                  <a:pt x="6838950" y="0"/>
                </a:lnTo>
                <a:lnTo>
                  <a:pt x="6838950" y="3657600"/>
                </a:lnTo>
                <a:lnTo>
                  <a:pt x="0" y="3657600"/>
                </a:lnTo>
                <a:close/>
              </a:path>
            </a:pathLst>
          </a:custGeom>
          <a:solidFill>
            <a:schemeClr val="bg1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 lang="en-US" sz="900"/>
            </a:lvl1pPr>
          </a:lstStyle>
          <a:p>
            <a:pPr marL="0" lvl="0" indent="0" algn="ctr">
              <a:buNone/>
            </a:pP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440CC8-D34F-1A13-B085-E5A57A37D6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8332" y="66048"/>
            <a:ext cx="1464242" cy="641524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C83ABA4B-9559-EC89-225F-C0B76BD8B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169" y="537781"/>
            <a:ext cx="6949787" cy="589562"/>
          </a:xfrm>
          <a:prstGeom prst="rect">
            <a:avLst/>
          </a:prstGeom>
        </p:spPr>
        <p:txBody>
          <a:bodyPr/>
          <a:lstStyle>
            <a:lvl1pPr>
              <a:defRPr sz="2700" b="1" i="0">
                <a:solidFill>
                  <a:srgbClr val="083D5F"/>
                </a:solidFill>
                <a:latin typeface="Inter 28pt 28pt" panose="02000503000000020004" pitchFamily="2" charset="0"/>
                <a:ea typeface="Inter 28pt 28pt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E709B5C2-36E5-0831-DC04-4F868BFD7C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2278" y="1243596"/>
            <a:ext cx="6890147" cy="1695517"/>
          </a:xfrm>
          <a:prstGeom prst="rect">
            <a:avLst/>
          </a:prstGeom>
        </p:spPr>
        <p:txBody>
          <a:bodyPr/>
          <a:lstStyle>
            <a:lvl1pPr>
              <a:buClr>
                <a:srgbClr val="02A7C2"/>
              </a:buClr>
              <a:defRPr sz="150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1pPr>
            <a:lvl2pPr>
              <a:buClr>
                <a:srgbClr val="02A7C2"/>
              </a:buClr>
              <a:defRPr sz="13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2pPr>
            <a:lvl3pPr>
              <a:buClr>
                <a:srgbClr val="02A7C2"/>
              </a:buClr>
              <a:defRPr sz="120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3pPr>
            <a:lvl4pPr>
              <a:buClr>
                <a:srgbClr val="02A7C2"/>
              </a:buClr>
              <a:defRPr sz="10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4pPr>
            <a:lvl5pPr>
              <a:buClr>
                <a:srgbClr val="02A7C2"/>
              </a:buClr>
              <a:defRPr sz="10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C24620B-5DFC-CB4F-A51D-FF3B85B237E6}"/>
              </a:ext>
            </a:extLst>
          </p:cNvPr>
          <p:cNvGrpSpPr/>
          <p:nvPr userDrawn="1"/>
        </p:nvGrpSpPr>
        <p:grpSpPr>
          <a:xfrm>
            <a:off x="-59579" y="4708132"/>
            <a:ext cx="9203579" cy="435368"/>
            <a:chOff x="-79438" y="6277510"/>
            <a:chExt cx="12271438" cy="58049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CD17BAE-417F-EAE1-B26C-4C9AA0B1A1AC}"/>
                </a:ext>
              </a:extLst>
            </p:cNvPr>
            <p:cNvGrpSpPr/>
            <p:nvPr userDrawn="1"/>
          </p:nvGrpSpPr>
          <p:grpSpPr>
            <a:xfrm>
              <a:off x="0" y="6277510"/>
              <a:ext cx="12192000" cy="580490"/>
              <a:chOff x="0" y="6277510"/>
              <a:chExt cx="12192000" cy="58049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3C5475D-107D-461C-DD68-0645259C0468}"/>
                  </a:ext>
                </a:extLst>
              </p:cNvPr>
              <p:cNvSpPr/>
              <p:nvPr userDrawn="1"/>
            </p:nvSpPr>
            <p:spPr>
              <a:xfrm>
                <a:off x="0" y="6277510"/>
                <a:ext cx="12192000" cy="580490"/>
              </a:xfrm>
              <a:prstGeom prst="rect">
                <a:avLst/>
              </a:prstGeom>
              <a:gradFill flip="none" rotWithShape="1">
                <a:gsLst>
                  <a:gs pos="0">
                    <a:srgbClr val="02A7C2"/>
                  </a:gs>
                  <a:gs pos="74000">
                    <a:srgbClr val="083D5F"/>
                  </a:gs>
                  <a:gs pos="83000">
                    <a:srgbClr val="083D5F"/>
                  </a:gs>
                  <a:gs pos="100000">
                    <a:srgbClr val="083D5F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9A19C8E-D9A8-660B-066A-D8EABC356DAC}"/>
                  </a:ext>
                </a:extLst>
              </p:cNvPr>
              <p:cNvSpPr txBox="1"/>
              <p:nvPr userDrawn="1"/>
            </p:nvSpPr>
            <p:spPr>
              <a:xfrm>
                <a:off x="689371" y="6459214"/>
                <a:ext cx="267784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675" b="1" i="1" baseline="0" err="1">
                    <a:solidFill>
                      <a:schemeClr val="bg1"/>
                    </a:solidFill>
                    <a:effectLst/>
                    <a:latin typeface="Jost Black" pitchFamily="2" charset="77"/>
                  </a:rPr>
                  <a:t>Verlocity.ai</a:t>
                </a:r>
                <a:endParaRPr lang="en-US" sz="675" i="0" baseline="0">
                  <a:solidFill>
                    <a:schemeClr val="bg1"/>
                  </a:solidFill>
                  <a:effectLst/>
                  <a:latin typeface="Jost Black" pitchFamily="2" charset="77"/>
                </a:endParaRPr>
              </a:p>
            </p:txBody>
          </p:sp>
        </p:grp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375781A-CCDA-B9BC-9412-4CFFA239C78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212" b="21063"/>
            <a:stretch>
              <a:fillRect/>
            </a:stretch>
          </p:blipFill>
          <p:spPr>
            <a:xfrm>
              <a:off x="-79438" y="6278252"/>
              <a:ext cx="843009" cy="579748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CAFF698-D011-E445-33C9-297FDBD5711C}"/>
              </a:ext>
            </a:extLst>
          </p:cNvPr>
          <p:cNvSpPr txBox="1"/>
          <p:nvPr userDrawn="1"/>
        </p:nvSpPr>
        <p:spPr>
          <a:xfrm>
            <a:off x="8468475" y="4854539"/>
            <a:ext cx="616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6867525-6404-A442-9564-9FA0C65E9CFE}" type="slidenum">
              <a:rPr lang="en-US" sz="900" smtClean="0">
                <a:solidFill>
                  <a:srgbClr val="02A7C2"/>
                </a:solidFill>
              </a:rPr>
              <a:pPr algn="r"/>
              <a:t>‹#›</a:t>
            </a:fld>
            <a:endParaRPr lang="en-US" sz="900">
              <a:solidFill>
                <a:srgbClr val="02A7C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334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C946125-6832-4A9E-B1D9-6498B233A13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0" y="0"/>
            <a:ext cx="4572000" cy="2133600"/>
          </a:xfrm>
          <a:custGeom>
            <a:avLst/>
            <a:gdLst>
              <a:gd name="connsiteX0" fmla="*/ 0 w 6096000"/>
              <a:gd name="connsiteY0" fmla="*/ 0 h 2844800"/>
              <a:gd name="connsiteX1" fmla="*/ 6096000 w 6096000"/>
              <a:gd name="connsiteY1" fmla="*/ 0 h 2844800"/>
              <a:gd name="connsiteX2" fmla="*/ 6096000 w 6096000"/>
              <a:gd name="connsiteY2" fmla="*/ 2844800 h 2844800"/>
              <a:gd name="connsiteX3" fmla="*/ 0 w 6096000"/>
              <a:gd name="connsiteY3" fmla="*/ 2844800 h 28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2844800">
                <a:moveTo>
                  <a:pt x="0" y="0"/>
                </a:moveTo>
                <a:lnTo>
                  <a:pt x="6096000" y="0"/>
                </a:lnTo>
                <a:lnTo>
                  <a:pt x="6096000" y="2844800"/>
                </a:lnTo>
                <a:lnTo>
                  <a:pt x="0" y="2844800"/>
                </a:lnTo>
                <a:close/>
              </a:path>
            </a:pathLst>
          </a:custGeom>
          <a:solidFill>
            <a:schemeClr val="bg1">
              <a:lumMod val="75000"/>
              <a:alpha val="2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EE5E5B-4287-019C-7E1F-AEA00EB64E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9758" y="120315"/>
            <a:ext cx="1464242" cy="641524"/>
          </a:xfrm>
          <a:prstGeom prst="rect">
            <a:avLst/>
          </a:prstGeom>
        </p:spPr>
      </p:pic>
      <p:sp>
        <p:nvSpPr>
          <p:cNvPr id="15" name="Title 9">
            <a:extLst>
              <a:ext uri="{FF2B5EF4-FFF2-40B4-BE49-F238E27FC236}">
                <a16:creationId xmlns:a16="http://schemas.microsoft.com/office/drawing/2014/main" id="{AFC73BDA-4519-D6A6-5AD8-5405900A1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440" y="565074"/>
            <a:ext cx="3833747" cy="1060178"/>
          </a:xfrm>
          <a:prstGeom prst="rect">
            <a:avLst/>
          </a:prstGeom>
        </p:spPr>
        <p:txBody>
          <a:bodyPr/>
          <a:lstStyle>
            <a:lvl1pPr>
              <a:defRPr sz="2700" b="1" i="0" baseline="0">
                <a:solidFill>
                  <a:srgbClr val="083D5F"/>
                </a:solidFill>
                <a:latin typeface="Inter 28pt 28pt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0425FE72-53E2-4E95-1E81-1333833DB7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9434" y="1656954"/>
            <a:ext cx="3870543" cy="1695517"/>
          </a:xfrm>
          <a:prstGeom prst="rect">
            <a:avLst/>
          </a:prstGeom>
        </p:spPr>
        <p:txBody>
          <a:bodyPr/>
          <a:lstStyle>
            <a:lvl1pPr>
              <a:buClr>
                <a:srgbClr val="02A7C2"/>
              </a:buClr>
              <a:defRPr sz="150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1pPr>
            <a:lvl2pPr>
              <a:buClr>
                <a:srgbClr val="02A7C2"/>
              </a:buClr>
              <a:defRPr sz="13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2pPr>
            <a:lvl3pPr>
              <a:buClr>
                <a:srgbClr val="02A7C2"/>
              </a:buClr>
              <a:defRPr sz="120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3pPr>
            <a:lvl4pPr>
              <a:buClr>
                <a:srgbClr val="02A7C2"/>
              </a:buClr>
              <a:defRPr sz="10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4pPr>
            <a:lvl5pPr>
              <a:buClr>
                <a:srgbClr val="02A7C2"/>
              </a:buClr>
              <a:defRPr sz="10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5EF7845-4E85-456A-160F-82A1F0D3E83E}"/>
              </a:ext>
            </a:extLst>
          </p:cNvPr>
          <p:cNvGrpSpPr/>
          <p:nvPr userDrawn="1"/>
        </p:nvGrpSpPr>
        <p:grpSpPr>
          <a:xfrm>
            <a:off x="-59579" y="4708132"/>
            <a:ext cx="9203579" cy="435368"/>
            <a:chOff x="-79438" y="6277510"/>
            <a:chExt cx="12271438" cy="5804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CBB913B-53F1-4D8F-70FB-0C35419B9CCF}"/>
                </a:ext>
              </a:extLst>
            </p:cNvPr>
            <p:cNvGrpSpPr/>
            <p:nvPr userDrawn="1"/>
          </p:nvGrpSpPr>
          <p:grpSpPr>
            <a:xfrm>
              <a:off x="0" y="6277510"/>
              <a:ext cx="12192000" cy="580490"/>
              <a:chOff x="0" y="6277510"/>
              <a:chExt cx="12192000" cy="58049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60DCDAA-3A71-395D-963C-5532E4217177}"/>
                  </a:ext>
                </a:extLst>
              </p:cNvPr>
              <p:cNvSpPr/>
              <p:nvPr userDrawn="1"/>
            </p:nvSpPr>
            <p:spPr>
              <a:xfrm>
                <a:off x="0" y="6277510"/>
                <a:ext cx="12192000" cy="580490"/>
              </a:xfrm>
              <a:prstGeom prst="rect">
                <a:avLst/>
              </a:prstGeom>
              <a:gradFill flip="none" rotWithShape="1">
                <a:gsLst>
                  <a:gs pos="0">
                    <a:srgbClr val="02A7C2"/>
                  </a:gs>
                  <a:gs pos="74000">
                    <a:srgbClr val="083D5F"/>
                  </a:gs>
                  <a:gs pos="83000">
                    <a:srgbClr val="083D5F"/>
                  </a:gs>
                  <a:gs pos="100000">
                    <a:srgbClr val="083D5F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02F9D7A-DCEE-0B30-0E90-9ECAD42BA173}"/>
                  </a:ext>
                </a:extLst>
              </p:cNvPr>
              <p:cNvSpPr txBox="1"/>
              <p:nvPr userDrawn="1"/>
            </p:nvSpPr>
            <p:spPr>
              <a:xfrm>
                <a:off x="689371" y="6459214"/>
                <a:ext cx="267784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675" b="1" i="1" baseline="0" err="1">
                    <a:solidFill>
                      <a:schemeClr val="bg1"/>
                    </a:solidFill>
                    <a:effectLst/>
                    <a:latin typeface="Jost Black" pitchFamily="2" charset="77"/>
                  </a:rPr>
                  <a:t>Verlocity.ai</a:t>
                </a:r>
                <a:endParaRPr lang="en-US" sz="675" i="0" baseline="0">
                  <a:solidFill>
                    <a:schemeClr val="bg1"/>
                  </a:solidFill>
                  <a:effectLst/>
                  <a:latin typeface="Jost Black" pitchFamily="2" charset="77"/>
                </a:endParaRPr>
              </a:p>
            </p:txBody>
          </p:sp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D25A8ED-24A5-303E-576E-4A3DFF904A5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212" b="21063"/>
            <a:stretch>
              <a:fillRect/>
            </a:stretch>
          </p:blipFill>
          <p:spPr>
            <a:xfrm>
              <a:off x="-79438" y="6278252"/>
              <a:ext cx="843009" cy="579748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9E15281-FEDE-D322-79E2-5C681200269E}"/>
              </a:ext>
            </a:extLst>
          </p:cNvPr>
          <p:cNvSpPr txBox="1"/>
          <p:nvPr userDrawn="1"/>
        </p:nvSpPr>
        <p:spPr>
          <a:xfrm>
            <a:off x="8468475" y="4854539"/>
            <a:ext cx="616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6867525-6404-A442-9564-9FA0C65E9CFE}" type="slidenum">
              <a:rPr lang="en-US" sz="900" smtClean="0">
                <a:solidFill>
                  <a:srgbClr val="02A7C2"/>
                </a:solidFill>
              </a:rPr>
              <a:pPr algn="r"/>
              <a:t>‹#›</a:t>
            </a:fld>
            <a:endParaRPr lang="en-US" sz="900">
              <a:solidFill>
                <a:srgbClr val="02A7C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62707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395A4AF-2A11-3B4F-01A2-BF2E9BF0CC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653126"/>
            <a:ext cx="2600325" cy="2043113"/>
          </a:xfrm>
          <a:custGeom>
            <a:avLst/>
            <a:gdLst>
              <a:gd name="connsiteX0" fmla="*/ 0 w 3467100"/>
              <a:gd name="connsiteY0" fmla="*/ 0 h 2228850"/>
              <a:gd name="connsiteX1" fmla="*/ 3467100 w 3467100"/>
              <a:gd name="connsiteY1" fmla="*/ 0 h 2228850"/>
              <a:gd name="connsiteX2" fmla="*/ 3467100 w 3467100"/>
              <a:gd name="connsiteY2" fmla="*/ 2228850 h 2228850"/>
              <a:gd name="connsiteX3" fmla="*/ 0 w 3467100"/>
              <a:gd name="connsiteY3" fmla="*/ 2228850 h 2228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00" h="2228850">
                <a:moveTo>
                  <a:pt x="0" y="0"/>
                </a:moveTo>
                <a:lnTo>
                  <a:pt x="3467100" y="0"/>
                </a:lnTo>
                <a:lnTo>
                  <a:pt x="3467100" y="2228850"/>
                </a:lnTo>
                <a:lnTo>
                  <a:pt x="0" y="2228850"/>
                </a:lnTo>
                <a:close/>
              </a:path>
            </a:pathLst>
          </a:custGeom>
          <a:solidFill>
            <a:schemeClr val="bg1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 lang="en-US" sz="9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1051B71-6079-75A6-3394-18DB6F4E47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72000" y="0"/>
            <a:ext cx="1800225" cy="4772025"/>
          </a:xfrm>
          <a:custGeom>
            <a:avLst/>
            <a:gdLst>
              <a:gd name="connsiteX0" fmla="*/ 0 w 2209800"/>
              <a:gd name="connsiteY0" fmla="*/ 0 h 5867400"/>
              <a:gd name="connsiteX1" fmla="*/ 2209800 w 2209800"/>
              <a:gd name="connsiteY1" fmla="*/ 0 h 5867400"/>
              <a:gd name="connsiteX2" fmla="*/ 2209800 w 2209800"/>
              <a:gd name="connsiteY2" fmla="*/ 5867400 h 5867400"/>
              <a:gd name="connsiteX3" fmla="*/ 0 w 2209800"/>
              <a:gd name="connsiteY3" fmla="*/ 5867400 h 586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9800" h="5867400">
                <a:moveTo>
                  <a:pt x="0" y="0"/>
                </a:moveTo>
                <a:lnTo>
                  <a:pt x="2209800" y="0"/>
                </a:lnTo>
                <a:lnTo>
                  <a:pt x="2209800" y="5867400"/>
                </a:lnTo>
                <a:lnTo>
                  <a:pt x="0" y="5867400"/>
                </a:lnTo>
                <a:close/>
              </a:path>
            </a:pathLst>
          </a:custGeom>
          <a:solidFill>
            <a:schemeClr val="bg1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 lang="en-US" sz="900"/>
            </a:lvl1pPr>
          </a:lstStyle>
          <a:p>
            <a:pPr marL="0" lvl="0" indent="0" algn="ctr">
              <a:buNone/>
            </a:pP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4EC2AB-BCF6-70D2-8791-70524A2893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8332" y="66048"/>
            <a:ext cx="1464242" cy="641524"/>
          </a:xfrm>
          <a:prstGeom prst="rect">
            <a:avLst/>
          </a:prstGeom>
        </p:spPr>
      </p:pic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32567A01-2049-A6FA-AD5F-4917AE482B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9505" y="1027522"/>
            <a:ext cx="2245290" cy="1695517"/>
          </a:xfrm>
          <a:prstGeom prst="rect">
            <a:avLst/>
          </a:prstGeom>
        </p:spPr>
        <p:txBody>
          <a:bodyPr/>
          <a:lstStyle>
            <a:lvl1pPr>
              <a:buClr>
                <a:srgbClr val="02A7C2"/>
              </a:buClr>
              <a:defRPr sz="150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1pPr>
            <a:lvl2pPr>
              <a:buClr>
                <a:srgbClr val="02A7C2"/>
              </a:buClr>
              <a:defRPr sz="13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2pPr>
            <a:lvl3pPr>
              <a:buClr>
                <a:srgbClr val="02A7C2"/>
              </a:buClr>
              <a:defRPr sz="120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3pPr>
            <a:lvl4pPr>
              <a:buClr>
                <a:srgbClr val="02A7C2"/>
              </a:buClr>
              <a:defRPr sz="10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4pPr>
            <a:lvl5pPr>
              <a:buClr>
                <a:srgbClr val="02A7C2"/>
              </a:buClr>
              <a:defRPr sz="10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itle 9">
            <a:extLst>
              <a:ext uri="{FF2B5EF4-FFF2-40B4-BE49-F238E27FC236}">
                <a16:creationId xmlns:a16="http://schemas.microsoft.com/office/drawing/2014/main" id="{94642819-3D8C-94BE-9BAB-3EFA8FF15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440" y="565074"/>
            <a:ext cx="3833747" cy="1060178"/>
          </a:xfrm>
          <a:prstGeom prst="rect">
            <a:avLst/>
          </a:prstGeom>
        </p:spPr>
        <p:txBody>
          <a:bodyPr/>
          <a:lstStyle>
            <a:lvl1pPr>
              <a:defRPr sz="2700" b="1" i="0" baseline="0">
                <a:solidFill>
                  <a:srgbClr val="083D5F"/>
                </a:solidFill>
                <a:latin typeface="Inter 28pt 28pt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DA20398-424A-BF75-65F1-66351F74E24A}"/>
              </a:ext>
            </a:extLst>
          </p:cNvPr>
          <p:cNvGrpSpPr/>
          <p:nvPr userDrawn="1"/>
        </p:nvGrpSpPr>
        <p:grpSpPr>
          <a:xfrm>
            <a:off x="-59579" y="4708132"/>
            <a:ext cx="9203579" cy="435368"/>
            <a:chOff x="-79438" y="6277510"/>
            <a:chExt cx="12271438" cy="58049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0EF02CB-3DC4-4F5F-756A-1253234BF811}"/>
                </a:ext>
              </a:extLst>
            </p:cNvPr>
            <p:cNvGrpSpPr/>
            <p:nvPr userDrawn="1"/>
          </p:nvGrpSpPr>
          <p:grpSpPr>
            <a:xfrm>
              <a:off x="0" y="6277510"/>
              <a:ext cx="12192000" cy="580490"/>
              <a:chOff x="0" y="6277510"/>
              <a:chExt cx="12192000" cy="58049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417082B-DB77-222F-B343-8ADB9C2DA9D2}"/>
                  </a:ext>
                </a:extLst>
              </p:cNvPr>
              <p:cNvSpPr/>
              <p:nvPr userDrawn="1"/>
            </p:nvSpPr>
            <p:spPr>
              <a:xfrm>
                <a:off x="0" y="6277510"/>
                <a:ext cx="12192000" cy="580490"/>
              </a:xfrm>
              <a:prstGeom prst="rect">
                <a:avLst/>
              </a:prstGeom>
              <a:gradFill flip="none" rotWithShape="1">
                <a:gsLst>
                  <a:gs pos="0">
                    <a:srgbClr val="02A7C2"/>
                  </a:gs>
                  <a:gs pos="74000">
                    <a:srgbClr val="083D5F"/>
                  </a:gs>
                  <a:gs pos="83000">
                    <a:srgbClr val="083D5F"/>
                  </a:gs>
                  <a:gs pos="100000">
                    <a:srgbClr val="083D5F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3AD67DD-6DFA-9CB4-C92D-34C021FDBD1E}"/>
                  </a:ext>
                </a:extLst>
              </p:cNvPr>
              <p:cNvSpPr txBox="1"/>
              <p:nvPr userDrawn="1"/>
            </p:nvSpPr>
            <p:spPr>
              <a:xfrm>
                <a:off x="689371" y="6459214"/>
                <a:ext cx="267784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675" b="1" i="1" baseline="0" err="1">
                    <a:solidFill>
                      <a:schemeClr val="bg1"/>
                    </a:solidFill>
                    <a:effectLst/>
                    <a:latin typeface="Jost Black" pitchFamily="2" charset="77"/>
                  </a:rPr>
                  <a:t>Verlocity.ai</a:t>
                </a:r>
                <a:endParaRPr lang="en-US" sz="675" i="0" baseline="0">
                  <a:solidFill>
                    <a:schemeClr val="bg1"/>
                  </a:solidFill>
                  <a:effectLst/>
                  <a:latin typeface="Jost Black" pitchFamily="2" charset="77"/>
                </a:endParaRPr>
              </a:p>
            </p:txBody>
          </p:sp>
        </p:grp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E7C2778-CCC9-91BD-52AE-8200D968A5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212" b="21063"/>
            <a:stretch>
              <a:fillRect/>
            </a:stretch>
          </p:blipFill>
          <p:spPr>
            <a:xfrm>
              <a:off x="-79438" y="6278252"/>
              <a:ext cx="843009" cy="579748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C3D4E6D-6075-6819-9E32-11144032531C}"/>
              </a:ext>
            </a:extLst>
          </p:cNvPr>
          <p:cNvSpPr txBox="1"/>
          <p:nvPr userDrawn="1"/>
        </p:nvSpPr>
        <p:spPr>
          <a:xfrm>
            <a:off x="8468475" y="4854539"/>
            <a:ext cx="616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6867525-6404-A442-9564-9FA0C65E9CFE}" type="slidenum">
              <a:rPr lang="en-US" sz="900" smtClean="0">
                <a:solidFill>
                  <a:srgbClr val="02A7C2"/>
                </a:solidFill>
              </a:rPr>
              <a:pPr algn="r"/>
              <a:t>‹#›</a:t>
            </a:fld>
            <a:endParaRPr lang="en-US" sz="900">
              <a:solidFill>
                <a:srgbClr val="02A7C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21470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22435D74-5BCE-4AC8-B4CC-7D9D17B6B6D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19842" y="2155371"/>
            <a:ext cx="2144486" cy="2307091"/>
          </a:xfrm>
          <a:prstGeom prst="rect">
            <a:avLst/>
          </a:prstGeom>
          <a:solidFill>
            <a:schemeClr val="bg1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94D5B4B2-4CB2-438E-8E61-6444EF11CCD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828881" y="2155371"/>
            <a:ext cx="3315119" cy="2307091"/>
          </a:xfrm>
          <a:prstGeom prst="rect">
            <a:avLst/>
          </a:prstGeom>
          <a:solidFill>
            <a:schemeClr val="bg1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F93AB3DF-0338-4E7D-BBD6-19A4765127F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74362" y="2155371"/>
            <a:ext cx="2144486" cy="2307091"/>
          </a:xfrm>
          <a:prstGeom prst="rect">
            <a:avLst/>
          </a:prstGeom>
          <a:solidFill>
            <a:schemeClr val="bg1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D386C9-B585-C7B8-33E6-B06BC41BE0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8332" y="66048"/>
            <a:ext cx="1464242" cy="641524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4ED0CC40-CA1D-5FEB-B382-E0D5B1E1B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169" y="537781"/>
            <a:ext cx="6949787" cy="589562"/>
          </a:xfrm>
          <a:prstGeom prst="rect">
            <a:avLst/>
          </a:prstGeom>
        </p:spPr>
        <p:txBody>
          <a:bodyPr/>
          <a:lstStyle>
            <a:lvl1pPr>
              <a:defRPr sz="2700" b="1" i="0">
                <a:solidFill>
                  <a:srgbClr val="083D5F"/>
                </a:solidFill>
                <a:latin typeface="Inter 28pt 28pt" panose="02000503000000020004" pitchFamily="2" charset="0"/>
                <a:ea typeface="Inter 28pt 28pt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B746261-8B36-4B52-974A-F6A4B2BB1134}"/>
              </a:ext>
            </a:extLst>
          </p:cNvPr>
          <p:cNvGrpSpPr/>
          <p:nvPr userDrawn="1"/>
        </p:nvGrpSpPr>
        <p:grpSpPr>
          <a:xfrm>
            <a:off x="-59579" y="4708132"/>
            <a:ext cx="9203579" cy="435368"/>
            <a:chOff x="-79438" y="6277510"/>
            <a:chExt cx="12271438" cy="58049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0BF328F-E905-BF40-0DB4-90708790FC3A}"/>
                </a:ext>
              </a:extLst>
            </p:cNvPr>
            <p:cNvGrpSpPr/>
            <p:nvPr userDrawn="1"/>
          </p:nvGrpSpPr>
          <p:grpSpPr>
            <a:xfrm>
              <a:off x="0" y="6277510"/>
              <a:ext cx="12192000" cy="580490"/>
              <a:chOff x="0" y="6277510"/>
              <a:chExt cx="12192000" cy="58049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2F92E3B-74DA-E434-6EE8-5EFD76512BB8}"/>
                  </a:ext>
                </a:extLst>
              </p:cNvPr>
              <p:cNvSpPr/>
              <p:nvPr userDrawn="1"/>
            </p:nvSpPr>
            <p:spPr>
              <a:xfrm>
                <a:off x="0" y="6277510"/>
                <a:ext cx="12192000" cy="580490"/>
              </a:xfrm>
              <a:prstGeom prst="rect">
                <a:avLst/>
              </a:prstGeom>
              <a:gradFill flip="none" rotWithShape="1">
                <a:gsLst>
                  <a:gs pos="0">
                    <a:srgbClr val="02A7C2"/>
                  </a:gs>
                  <a:gs pos="74000">
                    <a:srgbClr val="083D5F"/>
                  </a:gs>
                  <a:gs pos="83000">
                    <a:srgbClr val="083D5F"/>
                  </a:gs>
                  <a:gs pos="100000">
                    <a:srgbClr val="083D5F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52D0578-C689-D79C-2A1E-EA89A06EBE8F}"/>
                  </a:ext>
                </a:extLst>
              </p:cNvPr>
              <p:cNvSpPr txBox="1"/>
              <p:nvPr userDrawn="1"/>
            </p:nvSpPr>
            <p:spPr>
              <a:xfrm>
                <a:off x="689371" y="6459214"/>
                <a:ext cx="267784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675" b="1" i="1" baseline="0" err="1">
                    <a:solidFill>
                      <a:schemeClr val="bg1"/>
                    </a:solidFill>
                    <a:effectLst/>
                    <a:latin typeface="Jost Black" pitchFamily="2" charset="77"/>
                  </a:rPr>
                  <a:t>Verlocity.ai</a:t>
                </a:r>
                <a:endParaRPr lang="en-US" sz="675" i="0" baseline="0">
                  <a:solidFill>
                    <a:schemeClr val="bg1"/>
                  </a:solidFill>
                  <a:effectLst/>
                  <a:latin typeface="Jost Black" pitchFamily="2" charset="77"/>
                </a:endParaRPr>
              </a:p>
            </p:txBody>
          </p:sp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E23F54A-3F14-0FE0-B53B-7C6B712F04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212" b="21063"/>
            <a:stretch>
              <a:fillRect/>
            </a:stretch>
          </p:blipFill>
          <p:spPr>
            <a:xfrm>
              <a:off x="-79438" y="6278252"/>
              <a:ext cx="843009" cy="579748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68E7590-71DB-ED2D-DC02-00E49201D01D}"/>
              </a:ext>
            </a:extLst>
          </p:cNvPr>
          <p:cNvSpPr txBox="1"/>
          <p:nvPr userDrawn="1"/>
        </p:nvSpPr>
        <p:spPr>
          <a:xfrm>
            <a:off x="8468475" y="4854539"/>
            <a:ext cx="616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6867525-6404-A442-9564-9FA0C65E9CFE}" type="slidenum">
              <a:rPr lang="en-US" sz="900" smtClean="0">
                <a:solidFill>
                  <a:srgbClr val="02A7C2"/>
                </a:solidFill>
              </a:rPr>
              <a:pPr algn="r"/>
              <a:t>‹#›</a:t>
            </a:fld>
            <a:endParaRPr lang="en-US" sz="900">
              <a:solidFill>
                <a:srgbClr val="02A7C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59142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D2DAD561-82F1-4552-B7C9-C968AF1FA2D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87983" y="2004647"/>
            <a:ext cx="2182655" cy="1899138"/>
          </a:xfrm>
          <a:prstGeom prst="rect">
            <a:avLst/>
          </a:prstGeom>
          <a:solidFill>
            <a:schemeClr val="bg1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DB811F0-1073-45A4-8E36-B3C5E6D1926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80673" y="2004647"/>
            <a:ext cx="2182655" cy="1899138"/>
          </a:xfrm>
          <a:prstGeom prst="rect">
            <a:avLst/>
          </a:prstGeom>
          <a:solidFill>
            <a:schemeClr val="bg1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845FE7F5-BE38-4208-8A26-46177EB1AA0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73362" y="2004647"/>
            <a:ext cx="2182655" cy="1899138"/>
          </a:xfrm>
          <a:prstGeom prst="rect">
            <a:avLst/>
          </a:prstGeom>
          <a:solidFill>
            <a:schemeClr val="bg1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54A8F1A-4235-06C6-D8A8-9BCE213474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8332" y="66048"/>
            <a:ext cx="1464242" cy="641524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666BBBD5-CAC2-CFB7-E935-E9BFADC67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169" y="537781"/>
            <a:ext cx="6949787" cy="589562"/>
          </a:xfrm>
          <a:prstGeom prst="rect">
            <a:avLst/>
          </a:prstGeom>
        </p:spPr>
        <p:txBody>
          <a:bodyPr/>
          <a:lstStyle>
            <a:lvl1pPr>
              <a:defRPr sz="2700" b="1" i="0">
                <a:solidFill>
                  <a:srgbClr val="083D5F"/>
                </a:solidFill>
                <a:latin typeface="Inter 28pt 28pt" panose="02000503000000020004" pitchFamily="2" charset="0"/>
                <a:ea typeface="Inter 28pt 28pt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C38C2E2-3963-1667-C72C-83D0FA09E9C8}"/>
              </a:ext>
            </a:extLst>
          </p:cNvPr>
          <p:cNvGrpSpPr/>
          <p:nvPr userDrawn="1"/>
        </p:nvGrpSpPr>
        <p:grpSpPr>
          <a:xfrm>
            <a:off x="-59579" y="4708132"/>
            <a:ext cx="9203579" cy="435368"/>
            <a:chOff x="-79438" y="6277510"/>
            <a:chExt cx="12271438" cy="58049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374EBB5-ED27-8DCA-D539-471D99C19B01}"/>
                </a:ext>
              </a:extLst>
            </p:cNvPr>
            <p:cNvGrpSpPr/>
            <p:nvPr userDrawn="1"/>
          </p:nvGrpSpPr>
          <p:grpSpPr>
            <a:xfrm>
              <a:off x="0" y="6277510"/>
              <a:ext cx="12192000" cy="580490"/>
              <a:chOff x="0" y="6277510"/>
              <a:chExt cx="12192000" cy="58049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2541637-87B5-0575-264A-E83207573D13}"/>
                  </a:ext>
                </a:extLst>
              </p:cNvPr>
              <p:cNvSpPr/>
              <p:nvPr userDrawn="1"/>
            </p:nvSpPr>
            <p:spPr>
              <a:xfrm>
                <a:off x="0" y="6277510"/>
                <a:ext cx="12192000" cy="580490"/>
              </a:xfrm>
              <a:prstGeom prst="rect">
                <a:avLst/>
              </a:prstGeom>
              <a:gradFill flip="none" rotWithShape="1">
                <a:gsLst>
                  <a:gs pos="0">
                    <a:srgbClr val="02A7C2"/>
                  </a:gs>
                  <a:gs pos="74000">
                    <a:srgbClr val="083D5F"/>
                  </a:gs>
                  <a:gs pos="83000">
                    <a:srgbClr val="083D5F"/>
                  </a:gs>
                  <a:gs pos="100000">
                    <a:srgbClr val="083D5F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D701F75-5DF0-F033-5FAB-B5CE1ECEE30B}"/>
                  </a:ext>
                </a:extLst>
              </p:cNvPr>
              <p:cNvSpPr txBox="1"/>
              <p:nvPr userDrawn="1"/>
            </p:nvSpPr>
            <p:spPr>
              <a:xfrm>
                <a:off x="689371" y="6459214"/>
                <a:ext cx="267784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675" b="1" i="1" baseline="0" err="1">
                    <a:solidFill>
                      <a:schemeClr val="bg1"/>
                    </a:solidFill>
                    <a:effectLst/>
                    <a:latin typeface="Jost Black" pitchFamily="2" charset="77"/>
                  </a:rPr>
                  <a:t>Verlocity.ai</a:t>
                </a:r>
                <a:endParaRPr lang="en-US" sz="675" i="0" baseline="0">
                  <a:solidFill>
                    <a:schemeClr val="bg1"/>
                  </a:solidFill>
                  <a:effectLst/>
                  <a:latin typeface="Jost Black" pitchFamily="2" charset="77"/>
                </a:endParaRPr>
              </a:p>
            </p:txBody>
          </p:sp>
        </p:grp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EA406BB-F2C6-304B-2C22-42660F4DC44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212" b="21063"/>
            <a:stretch>
              <a:fillRect/>
            </a:stretch>
          </p:blipFill>
          <p:spPr>
            <a:xfrm>
              <a:off x="-79438" y="6278252"/>
              <a:ext cx="843009" cy="579748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7E39739-D6E7-5B3B-D191-90F5CFB7E248}"/>
              </a:ext>
            </a:extLst>
          </p:cNvPr>
          <p:cNvSpPr txBox="1"/>
          <p:nvPr userDrawn="1"/>
        </p:nvSpPr>
        <p:spPr>
          <a:xfrm>
            <a:off x="8468475" y="4854539"/>
            <a:ext cx="616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6867525-6404-A442-9564-9FA0C65E9CFE}" type="slidenum">
              <a:rPr lang="en-US" sz="900" smtClean="0">
                <a:solidFill>
                  <a:srgbClr val="02A7C2"/>
                </a:solidFill>
              </a:rPr>
              <a:pPr algn="r"/>
              <a:t>‹#›</a:t>
            </a:fld>
            <a:endParaRPr lang="en-US" sz="900">
              <a:solidFill>
                <a:srgbClr val="02A7C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41314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EFB7471-24F3-4687-B1E3-62AAB5938D6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1766" y="891540"/>
            <a:ext cx="3780234" cy="4251960"/>
          </a:xfrm>
          <a:custGeom>
            <a:avLst/>
            <a:gdLst>
              <a:gd name="connsiteX0" fmla="*/ 0 w 5040312"/>
              <a:gd name="connsiteY0" fmla="*/ 0 h 5669280"/>
              <a:gd name="connsiteX1" fmla="*/ 5040312 w 5040312"/>
              <a:gd name="connsiteY1" fmla="*/ 0 h 5669280"/>
              <a:gd name="connsiteX2" fmla="*/ 5040312 w 5040312"/>
              <a:gd name="connsiteY2" fmla="*/ 5669280 h 5669280"/>
              <a:gd name="connsiteX3" fmla="*/ 0 w 5040312"/>
              <a:gd name="connsiteY3" fmla="*/ 5669280 h 5669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40312" h="5669280">
                <a:moveTo>
                  <a:pt x="0" y="0"/>
                </a:moveTo>
                <a:lnTo>
                  <a:pt x="5040312" y="0"/>
                </a:lnTo>
                <a:lnTo>
                  <a:pt x="5040312" y="5669280"/>
                </a:lnTo>
                <a:lnTo>
                  <a:pt x="0" y="5669280"/>
                </a:lnTo>
                <a:close/>
              </a:path>
            </a:pathLst>
          </a:custGeom>
          <a:solidFill>
            <a:schemeClr val="bg1">
              <a:lumMod val="75000"/>
              <a:alpha val="2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31F0F4-EB67-7813-4B92-D0347FAC80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8332" y="66048"/>
            <a:ext cx="1464242" cy="641524"/>
          </a:xfrm>
          <a:prstGeom prst="rect">
            <a:avLst/>
          </a:prstGeom>
        </p:spPr>
      </p:pic>
      <p:sp>
        <p:nvSpPr>
          <p:cNvPr id="16" name="Title 9">
            <a:extLst>
              <a:ext uri="{FF2B5EF4-FFF2-40B4-BE49-F238E27FC236}">
                <a16:creationId xmlns:a16="http://schemas.microsoft.com/office/drawing/2014/main" id="{0965123C-5511-43C9-863F-7A217E4F3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1463" y="1091167"/>
            <a:ext cx="3833747" cy="1060178"/>
          </a:xfrm>
          <a:prstGeom prst="rect">
            <a:avLst/>
          </a:prstGeom>
        </p:spPr>
        <p:txBody>
          <a:bodyPr/>
          <a:lstStyle>
            <a:lvl1pPr>
              <a:defRPr sz="2700" b="1" i="0" baseline="0">
                <a:solidFill>
                  <a:srgbClr val="083D5F"/>
                </a:solidFill>
                <a:latin typeface="Inter 28pt 28pt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E7B70AAB-38AA-45B1-48E5-8AB4E50653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73457" y="2183047"/>
            <a:ext cx="3870543" cy="1695517"/>
          </a:xfrm>
          <a:prstGeom prst="rect">
            <a:avLst/>
          </a:prstGeom>
        </p:spPr>
        <p:txBody>
          <a:bodyPr/>
          <a:lstStyle>
            <a:lvl1pPr>
              <a:buClr>
                <a:srgbClr val="02A7C2"/>
              </a:buClr>
              <a:defRPr sz="150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1pPr>
            <a:lvl2pPr>
              <a:buClr>
                <a:srgbClr val="02A7C2"/>
              </a:buClr>
              <a:defRPr sz="13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2pPr>
            <a:lvl3pPr>
              <a:buClr>
                <a:srgbClr val="02A7C2"/>
              </a:buClr>
              <a:defRPr sz="120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3pPr>
            <a:lvl4pPr>
              <a:buClr>
                <a:srgbClr val="02A7C2"/>
              </a:buClr>
              <a:defRPr sz="10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4pPr>
            <a:lvl5pPr>
              <a:buClr>
                <a:srgbClr val="02A7C2"/>
              </a:buClr>
              <a:defRPr sz="10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335DB15-140F-B379-6078-5DDB3D3765FB}"/>
              </a:ext>
            </a:extLst>
          </p:cNvPr>
          <p:cNvGrpSpPr/>
          <p:nvPr userDrawn="1"/>
        </p:nvGrpSpPr>
        <p:grpSpPr>
          <a:xfrm>
            <a:off x="-59579" y="4708132"/>
            <a:ext cx="9203579" cy="435368"/>
            <a:chOff x="-79438" y="6277510"/>
            <a:chExt cx="12271438" cy="58049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64AD6C6-DCBD-F588-47B8-A22106355DBE}"/>
                </a:ext>
              </a:extLst>
            </p:cNvPr>
            <p:cNvGrpSpPr/>
            <p:nvPr userDrawn="1"/>
          </p:nvGrpSpPr>
          <p:grpSpPr>
            <a:xfrm>
              <a:off x="0" y="6277510"/>
              <a:ext cx="12192000" cy="580490"/>
              <a:chOff x="0" y="6277510"/>
              <a:chExt cx="12192000" cy="58049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5BA92B9-C1A9-F5CF-7B19-F01097E5CD45}"/>
                  </a:ext>
                </a:extLst>
              </p:cNvPr>
              <p:cNvSpPr/>
              <p:nvPr userDrawn="1"/>
            </p:nvSpPr>
            <p:spPr>
              <a:xfrm>
                <a:off x="0" y="6277510"/>
                <a:ext cx="12192000" cy="580490"/>
              </a:xfrm>
              <a:prstGeom prst="rect">
                <a:avLst/>
              </a:prstGeom>
              <a:gradFill flip="none" rotWithShape="1">
                <a:gsLst>
                  <a:gs pos="0">
                    <a:srgbClr val="02A7C2"/>
                  </a:gs>
                  <a:gs pos="74000">
                    <a:srgbClr val="083D5F"/>
                  </a:gs>
                  <a:gs pos="83000">
                    <a:srgbClr val="083D5F"/>
                  </a:gs>
                  <a:gs pos="100000">
                    <a:srgbClr val="083D5F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2D60048-332B-012A-F253-E77868A11F54}"/>
                  </a:ext>
                </a:extLst>
              </p:cNvPr>
              <p:cNvSpPr txBox="1"/>
              <p:nvPr userDrawn="1"/>
            </p:nvSpPr>
            <p:spPr>
              <a:xfrm>
                <a:off x="689371" y="6459214"/>
                <a:ext cx="267784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675" b="1" i="1" baseline="0" err="1">
                    <a:solidFill>
                      <a:schemeClr val="bg1"/>
                    </a:solidFill>
                    <a:effectLst/>
                    <a:latin typeface="Jost Black" pitchFamily="2" charset="77"/>
                  </a:rPr>
                  <a:t>Verlocity.ai</a:t>
                </a:r>
                <a:endParaRPr lang="en-US" sz="675" i="0" baseline="0">
                  <a:solidFill>
                    <a:schemeClr val="bg1"/>
                  </a:solidFill>
                  <a:effectLst/>
                  <a:latin typeface="Jost Black" pitchFamily="2" charset="77"/>
                </a:endParaRPr>
              </a:p>
            </p:txBody>
          </p:sp>
        </p:grp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F0EAC0B-6550-683D-2010-840288A75BF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212" b="21063"/>
            <a:stretch>
              <a:fillRect/>
            </a:stretch>
          </p:blipFill>
          <p:spPr>
            <a:xfrm>
              <a:off x="-79438" y="6278252"/>
              <a:ext cx="843009" cy="579748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E1FE2E9-4B9A-7135-B345-6F8E069DA960}"/>
              </a:ext>
            </a:extLst>
          </p:cNvPr>
          <p:cNvSpPr txBox="1"/>
          <p:nvPr userDrawn="1"/>
        </p:nvSpPr>
        <p:spPr>
          <a:xfrm>
            <a:off x="8468475" y="4854539"/>
            <a:ext cx="616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6867525-6404-A442-9564-9FA0C65E9CFE}" type="slidenum">
              <a:rPr lang="en-US" sz="900" smtClean="0">
                <a:solidFill>
                  <a:srgbClr val="02A7C2"/>
                </a:solidFill>
              </a:rPr>
              <a:pPr algn="r"/>
              <a:t>‹#›</a:t>
            </a:fld>
            <a:endParaRPr lang="en-US" sz="900">
              <a:solidFill>
                <a:srgbClr val="02A7C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10792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19CFD06-BA25-0373-E241-499715E064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8332" y="66048"/>
            <a:ext cx="1464242" cy="641524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858E247-86B0-65A0-D72B-622D35B39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169" y="537781"/>
            <a:ext cx="6949787" cy="589562"/>
          </a:xfrm>
          <a:prstGeom prst="rect">
            <a:avLst/>
          </a:prstGeom>
        </p:spPr>
        <p:txBody>
          <a:bodyPr/>
          <a:lstStyle>
            <a:lvl1pPr>
              <a:defRPr sz="2700" b="1" i="0">
                <a:solidFill>
                  <a:srgbClr val="083D5F"/>
                </a:solidFill>
                <a:latin typeface="Inter 28pt 28pt" panose="02000503000000020004" pitchFamily="2" charset="0"/>
                <a:ea typeface="Inter 28pt 28pt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594F84E1-C4EE-A38A-7098-9D69CA43A3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2278" y="1243596"/>
            <a:ext cx="6890147" cy="1695517"/>
          </a:xfrm>
          <a:prstGeom prst="rect">
            <a:avLst/>
          </a:prstGeom>
        </p:spPr>
        <p:txBody>
          <a:bodyPr/>
          <a:lstStyle>
            <a:lvl1pPr>
              <a:buClr>
                <a:srgbClr val="02A7C2"/>
              </a:buClr>
              <a:defRPr sz="150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1pPr>
            <a:lvl2pPr>
              <a:buClr>
                <a:srgbClr val="02A7C2"/>
              </a:buClr>
              <a:defRPr sz="13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2pPr>
            <a:lvl3pPr>
              <a:buClr>
                <a:srgbClr val="02A7C2"/>
              </a:buClr>
              <a:defRPr sz="120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3pPr>
            <a:lvl4pPr>
              <a:buClr>
                <a:srgbClr val="02A7C2"/>
              </a:buClr>
              <a:defRPr sz="10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4pPr>
            <a:lvl5pPr>
              <a:buClr>
                <a:srgbClr val="02A7C2"/>
              </a:buClr>
              <a:defRPr sz="10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D8276FF-C1BD-D018-82FE-EE6D2C1B0040}"/>
              </a:ext>
            </a:extLst>
          </p:cNvPr>
          <p:cNvGrpSpPr/>
          <p:nvPr userDrawn="1"/>
        </p:nvGrpSpPr>
        <p:grpSpPr>
          <a:xfrm>
            <a:off x="-59579" y="4708132"/>
            <a:ext cx="9203579" cy="435368"/>
            <a:chOff x="-79438" y="6277510"/>
            <a:chExt cx="12271438" cy="58049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9D5953F-F740-246D-0D27-E1402F3A9EE7}"/>
                </a:ext>
              </a:extLst>
            </p:cNvPr>
            <p:cNvGrpSpPr/>
            <p:nvPr userDrawn="1"/>
          </p:nvGrpSpPr>
          <p:grpSpPr>
            <a:xfrm>
              <a:off x="0" y="6277510"/>
              <a:ext cx="12192000" cy="580490"/>
              <a:chOff x="0" y="6277510"/>
              <a:chExt cx="12192000" cy="58049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2C51234-C03F-E232-2E46-3AF20B67D770}"/>
                  </a:ext>
                </a:extLst>
              </p:cNvPr>
              <p:cNvSpPr/>
              <p:nvPr userDrawn="1"/>
            </p:nvSpPr>
            <p:spPr>
              <a:xfrm>
                <a:off x="0" y="6277510"/>
                <a:ext cx="12192000" cy="580490"/>
              </a:xfrm>
              <a:prstGeom prst="rect">
                <a:avLst/>
              </a:prstGeom>
              <a:gradFill flip="none" rotWithShape="1">
                <a:gsLst>
                  <a:gs pos="0">
                    <a:srgbClr val="02A7C2"/>
                  </a:gs>
                  <a:gs pos="74000">
                    <a:srgbClr val="083D5F"/>
                  </a:gs>
                  <a:gs pos="83000">
                    <a:srgbClr val="083D5F"/>
                  </a:gs>
                  <a:gs pos="100000">
                    <a:srgbClr val="083D5F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DF1620-B727-3A71-B95E-D2CEDE78EC2F}"/>
                  </a:ext>
                </a:extLst>
              </p:cNvPr>
              <p:cNvSpPr txBox="1"/>
              <p:nvPr userDrawn="1"/>
            </p:nvSpPr>
            <p:spPr>
              <a:xfrm>
                <a:off x="689371" y="6459214"/>
                <a:ext cx="267784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675" b="1" i="1" baseline="0" err="1">
                    <a:solidFill>
                      <a:schemeClr val="bg1"/>
                    </a:solidFill>
                    <a:effectLst/>
                    <a:latin typeface="Jost Black" pitchFamily="2" charset="77"/>
                  </a:rPr>
                  <a:t>Verlocity.ai</a:t>
                </a:r>
                <a:endParaRPr lang="en-US" sz="675" i="0" baseline="0">
                  <a:solidFill>
                    <a:schemeClr val="bg1"/>
                  </a:solidFill>
                  <a:effectLst/>
                  <a:latin typeface="Jost Black" pitchFamily="2" charset="77"/>
                </a:endParaRPr>
              </a:p>
            </p:txBody>
          </p:sp>
        </p:grp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3254959-F908-5F6A-ACAF-62FFC4D82EF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212" b="21063"/>
            <a:stretch>
              <a:fillRect/>
            </a:stretch>
          </p:blipFill>
          <p:spPr>
            <a:xfrm>
              <a:off x="-79438" y="6278252"/>
              <a:ext cx="843009" cy="579748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44DAC1E-B4E8-D4AD-EE7B-EE998E00DAEE}"/>
              </a:ext>
            </a:extLst>
          </p:cNvPr>
          <p:cNvSpPr txBox="1"/>
          <p:nvPr userDrawn="1"/>
        </p:nvSpPr>
        <p:spPr>
          <a:xfrm>
            <a:off x="8468475" y="4854539"/>
            <a:ext cx="616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6867525-6404-A442-9564-9FA0C65E9CFE}" type="slidenum">
              <a:rPr lang="en-US" sz="900" smtClean="0">
                <a:solidFill>
                  <a:srgbClr val="02A7C2"/>
                </a:solidFill>
              </a:rPr>
              <a:pPr algn="r"/>
              <a:t>‹#›</a:t>
            </a:fld>
            <a:endParaRPr lang="en-US" sz="900">
              <a:solidFill>
                <a:srgbClr val="02A7C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4212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9FDBDD4-D011-8366-9BC3-B5E30D5239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8332" y="66048"/>
            <a:ext cx="1464242" cy="64152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BE1AD24-E6E6-0D13-71A6-2C2ECD42B9EF}"/>
              </a:ext>
            </a:extLst>
          </p:cNvPr>
          <p:cNvGrpSpPr/>
          <p:nvPr userDrawn="1"/>
        </p:nvGrpSpPr>
        <p:grpSpPr>
          <a:xfrm>
            <a:off x="-59579" y="4708132"/>
            <a:ext cx="9203579" cy="435368"/>
            <a:chOff x="-79438" y="6277510"/>
            <a:chExt cx="12271438" cy="58049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94F6422-9A9F-C805-E28C-F13519ABC922}"/>
                </a:ext>
              </a:extLst>
            </p:cNvPr>
            <p:cNvGrpSpPr/>
            <p:nvPr userDrawn="1"/>
          </p:nvGrpSpPr>
          <p:grpSpPr>
            <a:xfrm>
              <a:off x="0" y="6277510"/>
              <a:ext cx="12192000" cy="580490"/>
              <a:chOff x="0" y="6277510"/>
              <a:chExt cx="12192000" cy="58049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32E4AFE-6CCC-A48A-D238-3CCB1E545E1D}"/>
                  </a:ext>
                </a:extLst>
              </p:cNvPr>
              <p:cNvSpPr/>
              <p:nvPr userDrawn="1"/>
            </p:nvSpPr>
            <p:spPr>
              <a:xfrm>
                <a:off x="0" y="6277510"/>
                <a:ext cx="12192000" cy="580490"/>
              </a:xfrm>
              <a:prstGeom prst="rect">
                <a:avLst/>
              </a:prstGeom>
              <a:gradFill flip="none" rotWithShape="1">
                <a:gsLst>
                  <a:gs pos="0">
                    <a:srgbClr val="02A7C2"/>
                  </a:gs>
                  <a:gs pos="74000">
                    <a:srgbClr val="083D5F"/>
                  </a:gs>
                  <a:gs pos="83000">
                    <a:srgbClr val="083D5F"/>
                  </a:gs>
                  <a:gs pos="100000">
                    <a:srgbClr val="083D5F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61CC655-CAF1-C9EA-8613-E2CCDACB7F4E}"/>
                  </a:ext>
                </a:extLst>
              </p:cNvPr>
              <p:cNvSpPr txBox="1"/>
              <p:nvPr userDrawn="1"/>
            </p:nvSpPr>
            <p:spPr>
              <a:xfrm>
                <a:off x="689371" y="6459214"/>
                <a:ext cx="267784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675" b="1" i="1" baseline="0" err="1">
                    <a:solidFill>
                      <a:schemeClr val="bg1"/>
                    </a:solidFill>
                    <a:effectLst/>
                    <a:latin typeface="Jost Black" pitchFamily="2" charset="77"/>
                  </a:rPr>
                  <a:t>Verlocity.ai</a:t>
                </a:r>
                <a:endParaRPr lang="en-US" sz="675" i="0" baseline="0">
                  <a:solidFill>
                    <a:schemeClr val="bg1"/>
                  </a:solidFill>
                  <a:effectLst/>
                  <a:latin typeface="Jost Black" pitchFamily="2" charset="77"/>
                </a:endParaRPr>
              </a:p>
            </p:txBody>
          </p:sp>
        </p:grp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16D4559-F5AF-EAC5-BCB8-D30E3457DC5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212" b="21063"/>
            <a:stretch>
              <a:fillRect/>
            </a:stretch>
          </p:blipFill>
          <p:spPr>
            <a:xfrm>
              <a:off x="-79438" y="6278252"/>
              <a:ext cx="843009" cy="579748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F941451-D495-F71A-8F6B-6E85049A2E58}"/>
              </a:ext>
            </a:extLst>
          </p:cNvPr>
          <p:cNvSpPr txBox="1"/>
          <p:nvPr userDrawn="1"/>
        </p:nvSpPr>
        <p:spPr>
          <a:xfrm>
            <a:off x="8468475" y="4854539"/>
            <a:ext cx="616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6867525-6404-A442-9564-9FA0C65E9CFE}" type="slidenum">
              <a:rPr lang="en-US" sz="900" smtClean="0">
                <a:solidFill>
                  <a:srgbClr val="02A7C2"/>
                </a:solidFill>
              </a:rPr>
              <a:pPr algn="r"/>
              <a:t>‹#›</a:t>
            </a:fld>
            <a:endParaRPr lang="en-US" sz="900">
              <a:solidFill>
                <a:srgbClr val="02A7C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1730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E1FA5985-52BB-4C05-AD95-E2D9955A59D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1766" y="920523"/>
            <a:ext cx="7560469" cy="2116591"/>
          </a:xfrm>
          <a:prstGeom prst="rect">
            <a:avLst/>
          </a:prstGeom>
          <a:solidFill>
            <a:schemeClr val="bg1">
              <a:lumMod val="75000"/>
              <a:alpha val="2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75BACB-239A-3B03-7315-F609A7C759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8332" y="66048"/>
            <a:ext cx="1464242" cy="64152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47EC2AB-A67D-62F0-7D19-D07829E5EC37}"/>
              </a:ext>
            </a:extLst>
          </p:cNvPr>
          <p:cNvGrpSpPr/>
          <p:nvPr userDrawn="1"/>
        </p:nvGrpSpPr>
        <p:grpSpPr>
          <a:xfrm>
            <a:off x="-59579" y="4708132"/>
            <a:ext cx="9203579" cy="435368"/>
            <a:chOff x="-79438" y="6277510"/>
            <a:chExt cx="12271438" cy="58049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6A118CC-4532-94E6-4D0A-0444DEEDE7F4}"/>
                </a:ext>
              </a:extLst>
            </p:cNvPr>
            <p:cNvGrpSpPr/>
            <p:nvPr userDrawn="1"/>
          </p:nvGrpSpPr>
          <p:grpSpPr>
            <a:xfrm>
              <a:off x="0" y="6277510"/>
              <a:ext cx="12192000" cy="580490"/>
              <a:chOff x="0" y="6277510"/>
              <a:chExt cx="12192000" cy="58049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A5C91F5-F129-8DAC-682A-DE6411F1E431}"/>
                  </a:ext>
                </a:extLst>
              </p:cNvPr>
              <p:cNvSpPr/>
              <p:nvPr userDrawn="1"/>
            </p:nvSpPr>
            <p:spPr>
              <a:xfrm>
                <a:off x="0" y="6277510"/>
                <a:ext cx="12192000" cy="580490"/>
              </a:xfrm>
              <a:prstGeom prst="rect">
                <a:avLst/>
              </a:prstGeom>
              <a:gradFill flip="none" rotWithShape="1">
                <a:gsLst>
                  <a:gs pos="0">
                    <a:srgbClr val="02A7C2"/>
                  </a:gs>
                  <a:gs pos="74000">
                    <a:srgbClr val="083D5F"/>
                  </a:gs>
                  <a:gs pos="83000">
                    <a:srgbClr val="083D5F"/>
                  </a:gs>
                  <a:gs pos="100000">
                    <a:srgbClr val="083D5F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A59D3E2-723E-326F-DFDC-215D53D434B4}"/>
                  </a:ext>
                </a:extLst>
              </p:cNvPr>
              <p:cNvSpPr txBox="1"/>
              <p:nvPr userDrawn="1"/>
            </p:nvSpPr>
            <p:spPr>
              <a:xfrm>
                <a:off x="689371" y="6459214"/>
                <a:ext cx="267784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675" b="1" i="1" baseline="0" err="1">
                    <a:solidFill>
                      <a:schemeClr val="bg1"/>
                    </a:solidFill>
                    <a:effectLst/>
                    <a:latin typeface="Jost Black" pitchFamily="2" charset="77"/>
                  </a:rPr>
                  <a:t>Verlocity.ai</a:t>
                </a:r>
                <a:endParaRPr lang="en-US" sz="675" i="0" baseline="0">
                  <a:solidFill>
                    <a:schemeClr val="bg1"/>
                  </a:solidFill>
                  <a:effectLst/>
                  <a:latin typeface="Jost Black" pitchFamily="2" charset="77"/>
                </a:endParaRPr>
              </a:p>
            </p:txBody>
          </p: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0477CB4-B734-01F7-4259-C4374C0BD6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212" b="21063"/>
            <a:stretch>
              <a:fillRect/>
            </a:stretch>
          </p:blipFill>
          <p:spPr>
            <a:xfrm>
              <a:off x="-79438" y="6278252"/>
              <a:ext cx="843009" cy="579748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3A3FB99-DEDD-3028-7AEB-A51DCA5419FC}"/>
              </a:ext>
            </a:extLst>
          </p:cNvPr>
          <p:cNvSpPr txBox="1"/>
          <p:nvPr userDrawn="1"/>
        </p:nvSpPr>
        <p:spPr>
          <a:xfrm>
            <a:off x="8468475" y="4854539"/>
            <a:ext cx="616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6867525-6404-A442-9564-9FA0C65E9CFE}" type="slidenum">
              <a:rPr lang="en-US" sz="900" smtClean="0">
                <a:solidFill>
                  <a:srgbClr val="02A7C2"/>
                </a:solidFill>
              </a:rPr>
              <a:pPr algn="r"/>
              <a:t>‹#›</a:t>
            </a:fld>
            <a:endParaRPr lang="en-US" sz="900">
              <a:solidFill>
                <a:srgbClr val="02A7C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5342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8D5BF35-9011-3291-70E4-A652F35E5B0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" y="2"/>
            <a:ext cx="2857499" cy="5133974"/>
          </a:xfrm>
          <a:prstGeom prst="rect">
            <a:avLst/>
          </a:prstGeom>
          <a:solidFill>
            <a:schemeClr val="bg1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 lang="en-US" sz="900"/>
            </a:lvl1pPr>
          </a:lstStyle>
          <a:p>
            <a:pPr marL="0" lvl="0" indent="0" algn="ctr">
              <a:buNone/>
            </a:pP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EDDFE0-35DA-AB60-17DC-4D7CBD524B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8332" y="66048"/>
            <a:ext cx="1464242" cy="641524"/>
          </a:xfrm>
          <a:prstGeom prst="rect">
            <a:avLst/>
          </a:prstGeom>
        </p:spPr>
      </p:pic>
      <p:sp>
        <p:nvSpPr>
          <p:cNvPr id="16" name="Title 9">
            <a:extLst>
              <a:ext uri="{FF2B5EF4-FFF2-40B4-BE49-F238E27FC236}">
                <a16:creationId xmlns:a16="http://schemas.microsoft.com/office/drawing/2014/main" id="{84600BB3-D2DE-B484-EE46-E32C091EE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924" y="565074"/>
            <a:ext cx="3833747" cy="1060178"/>
          </a:xfrm>
          <a:prstGeom prst="rect">
            <a:avLst/>
          </a:prstGeom>
        </p:spPr>
        <p:txBody>
          <a:bodyPr/>
          <a:lstStyle>
            <a:lvl1pPr>
              <a:defRPr sz="2700" b="1" i="0" baseline="0">
                <a:solidFill>
                  <a:srgbClr val="083D5F"/>
                </a:solidFill>
                <a:latin typeface="Inter 28pt 28pt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45C6968E-03CC-CDCB-4000-EDF12FD842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69918" y="1656954"/>
            <a:ext cx="3870543" cy="1695517"/>
          </a:xfrm>
          <a:prstGeom prst="rect">
            <a:avLst/>
          </a:prstGeom>
        </p:spPr>
        <p:txBody>
          <a:bodyPr/>
          <a:lstStyle>
            <a:lvl1pPr>
              <a:buClr>
                <a:srgbClr val="02A7C2"/>
              </a:buClr>
              <a:defRPr sz="150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1pPr>
            <a:lvl2pPr>
              <a:buClr>
                <a:srgbClr val="02A7C2"/>
              </a:buClr>
              <a:defRPr sz="13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2pPr>
            <a:lvl3pPr>
              <a:buClr>
                <a:srgbClr val="02A7C2"/>
              </a:buClr>
              <a:defRPr sz="120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3pPr>
            <a:lvl4pPr>
              <a:buClr>
                <a:srgbClr val="02A7C2"/>
              </a:buClr>
              <a:defRPr sz="10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4pPr>
            <a:lvl5pPr>
              <a:buClr>
                <a:srgbClr val="02A7C2"/>
              </a:buClr>
              <a:defRPr sz="1050" b="0" i="0" baseline="0">
                <a:latin typeface="Inter 18pt 18pt" panose="02000503000000020004" pitchFamily="2" charset="0"/>
                <a:ea typeface="Inter 18pt 18pt Light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A343E5C-B27B-A28A-8A3B-FEC5F4152C53}"/>
              </a:ext>
            </a:extLst>
          </p:cNvPr>
          <p:cNvGrpSpPr/>
          <p:nvPr userDrawn="1"/>
        </p:nvGrpSpPr>
        <p:grpSpPr>
          <a:xfrm>
            <a:off x="-59579" y="4708132"/>
            <a:ext cx="9203579" cy="435368"/>
            <a:chOff x="-79438" y="6277510"/>
            <a:chExt cx="12271438" cy="58049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F771CB9-C78F-9895-D8AA-42EB1BA56754}"/>
                </a:ext>
              </a:extLst>
            </p:cNvPr>
            <p:cNvGrpSpPr/>
            <p:nvPr userDrawn="1"/>
          </p:nvGrpSpPr>
          <p:grpSpPr>
            <a:xfrm>
              <a:off x="0" y="6277510"/>
              <a:ext cx="12192000" cy="580490"/>
              <a:chOff x="0" y="6277510"/>
              <a:chExt cx="12192000" cy="58049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B6B4187-FCFC-EE59-B10D-B0028797F25F}"/>
                  </a:ext>
                </a:extLst>
              </p:cNvPr>
              <p:cNvSpPr/>
              <p:nvPr userDrawn="1"/>
            </p:nvSpPr>
            <p:spPr>
              <a:xfrm>
                <a:off x="0" y="6277510"/>
                <a:ext cx="12192000" cy="580490"/>
              </a:xfrm>
              <a:prstGeom prst="rect">
                <a:avLst/>
              </a:prstGeom>
              <a:gradFill flip="none" rotWithShape="1">
                <a:gsLst>
                  <a:gs pos="0">
                    <a:srgbClr val="02A7C2"/>
                  </a:gs>
                  <a:gs pos="74000">
                    <a:srgbClr val="083D5F"/>
                  </a:gs>
                  <a:gs pos="83000">
                    <a:srgbClr val="083D5F"/>
                  </a:gs>
                  <a:gs pos="100000">
                    <a:srgbClr val="083D5F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E2D8C7A-E13A-4BF7-D23E-AAF51BC3A4FD}"/>
                  </a:ext>
                </a:extLst>
              </p:cNvPr>
              <p:cNvSpPr txBox="1"/>
              <p:nvPr userDrawn="1"/>
            </p:nvSpPr>
            <p:spPr>
              <a:xfrm>
                <a:off x="689371" y="6459214"/>
                <a:ext cx="267784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675" b="1" i="1" baseline="0" err="1">
                    <a:solidFill>
                      <a:schemeClr val="bg1"/>
                    </a:solidFill>
                    <a:effectLst/>
                    <a:latin typeface="Jost Black" pitchFamily="2" charset="77"/>
                  </a:rPr>
                  <a:t>Verlocity.ai</a:t>
                </a:r>
                <a:endParaRPr lang="en-US" sz="675" i="0" baseline="0">
                  <a:solidFill>
                    <a:schemeClr val="bg1"/>
                  </a:solidFill>
                  <a:effectLst/>
                  <a:latin typeface="Jost Black" pitchFamily="2" charset="77"/>
                </a:endParaRPr>
              </a:p>
            </p:txBody>
          </p:sp>
        </p:grp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A279D9D-81D7-F0F6-EB89-0C0BE37ACB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212" b="21063"/>
            <a:stretch>
              <a:fillRect/>
            </a:stretch>
          </p:blipFill>
          <p:spPr>
            <a:xfrm>
              <a:off x="-79438" y="6278252"/>
              <a:ext cx="843009" cy="579748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C54F8B1-4913-9D9C-8543-03AF0C02DD83}"/>
              </a:ext>
            </a:extLst>
          </p:cNvPr>
          <p:cNvSpPr txBox="1"/>
          <p:nvPr userDrawn="1"/>
        </p:nvSpPr>
        <p:spPr>
          <a:xfrm>
            <a:off x="8468475" y="4854539"/>
            <a:ext cx="616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6867525-6404-A442-9564-9FA0C65E9CFE}" type="slidenum">
              <a:rPr lang="en-US" sz="900" smtClean="0">
                <a:solidFill>
                  <a:srgbClr val="02A7C2"/>
                </a:solidFill>
              </a:rPr>
              <a:pPr algn="r"/>
              <a:t>‹#›</a:t>
            </a:fld>
            <a:endParaRPr lang="en-US" sz="900">
              <a:solidFill>
                <a:srgbClr val="02A7C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05346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30C62B-6A35-2C26-2916-BC00FE260C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5174" cy="5143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0AA8DB-6146-33C2-16C1-D29B2F5604E8}"/>
              </a:ext>
            </a:extLst>
          </p:cNvPr>
          <p:cNvSpPr txBox="1"/>
          <p:nvPr userDrawn="1"/>
        </p:nvSpPr>
        <p:spPr>
          <a:xfrm>
            <a:off x="9211962" y="1204783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3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0CD9FF-0E32-9DC1-B40E-B5CB19C0ABDD}"/>
              </a:ext>
            </a:extLst>
          </p:cNvPr>
          <p:cNvSpPr txBox="1"/>
          <p:nvPr userDrawn="1"/>
        </p:nvSpPr>
        <p:spPr>
          <a:xfrm>
            <a:off x="2502460" y="3143363"/>
            <a:ext cx="342498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baseline="0">
                <a:solidFill>
                  <a:srgbClr val="CDD61A"/>
                </a:solidFill>
                <a:latin typeface="Inter 18pt 18pt" panose="02000503000000020004" pitchFamily="2" charset="0"/>
              </a:rPr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DBE140-85A2-B141-77DD-61B027BA93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227" y="1135912"/>
            <a:ext cx="4442904" cy="194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422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73236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4941223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1"/>
          <p:cNvSpPr/>
          <p:nvPr/>
        </p:nvSpPr>
        <p:spPr>
          <a:xfrm>
            <a:off x="0" y="0"/>
            <a:ext cx="40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dk1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21" name="Google Shape;21;p51"/>
          <p:cNvSpPr/>
          <p:nvPr/>
        </p:nvSpPr>
        <p:spPr>
          <a:xfrm>
            <a:off x="344446" y="0"/>
            <a:ext cx="1653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22" name="Google Shape;22;p51"/>
          <p:cNvSpPr txBox="1">
            <a:spLocks noGrp="1"/>
          </p:cNvSpPr>
          <p:nvPr>
            <p:ph type="title"/>
          </p:nvPr>
        </p:nvSpPr>
        <p:spPr>
          <a:xfrm>
            <a:off x="683485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3450"/>
              </a:buClr>
              <a:buSzPts val="3300"/>
              <a:buFont typeface="Helvetica Neue"/>
              <a:buNone/>
              <a:defRPr sz="3300" b="1" i="0" u="none" strike="noStrike" cap="none">
                <a:solidFill>
                  <a:srgbClr val="13345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23" name="Google Shape;23;p51"/>
          <p:cNvSpPr txBox="1">
            <a:spLocks noGrp="1"/>
          </p:cNvSpPr>
          <p:nvPr>
            <p:ph type="body" idx="1"/>
          </p:nvPr>
        </p:nvSpPr>
        <p:spPr>
          <a:xfrm>
            <a:off x="683485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189" marR="0" lvl="0" indent="-342892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L="914378" marR="0" lvl="1" indent="-32384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  <a:defRPr sz="15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566" marR="0" lvl="2" indent="-30479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•"/>
              <a:defRPr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754" marR="0" lvl="3" indent="-29844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•"/>
              <a:defRPr sz="11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5943" marR="0" lvl="4" indent="-29844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•"/>
              <a:defRPr sz="11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132" marR="0" lvl="5" indent="-29844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•"/>
              <a:defRPr sz="11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320" marR="0" lvl="6" indent="-29844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•"/>
              <a:defRPr sz="11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509" marR="0" lvl="7" indent="-29844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•"/>
              <a:defRPr sz="11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697" marR="0" lvl="8" indent="-29844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•"/>
              <a:defRPr sz="11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4" name="Google Shape;24;p51"/>
          <p:cNvSpPr txBox="1">
            <a:spLocks noGrp="1"/>
          </p:cNvSpPr>
          <p:nvPr>
            <p:ph type="sldNum" idx="12"/>
          </p:nvPr>
        </p:nvSpPr>
        <p:spPr>
          <a:xfrm>
            <a:off x="6896525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767C86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67C8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67C8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67C8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67C8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67C8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67C8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67C8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67C8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4DBB31-E2AD-01BA-D9C1-B4D18F69F4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3485" y="4729240"/>
            <a:ext cx="1183152" cy="41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742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31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30D2E2-3B83-2A5D-9BEE-DC1C7D3602D2}"/>
              </a:ext>
            </a:extLst>
          </p:cNvPr>
          <p:cNvSpPr txBox="1"/>
          <p:nvPr userDrawn="1"/>
        </p:nvSpPr>
        <p:spPr>
          <a:xfrm>
            <a:off x="6310902" y="3313416"/>
            <a:ext cx="863029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350"/>
          </a:p>
          <a:p>
            <a:endParaRPr lang="en-US" sz="1350"/>
          </a:p>
          <a:p>
            <a:endParaRPr lang="en-US" sz="1350"/>
          </a:p>
          <a:p>
            <a:endParaRPr lang="en-US" sz="1350"/>
          </a:p>
          <a:p>
            <a:endParaRPr lang="en-US" sz="1350"/>
          </a:p>
          <a:p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DFF730-1236-0143-EA4D-FCAA4245D94D}"/>
              </a:ext>
            </a:extLst>
          </p:cNvPr>
          <p:cNvSpPr/>
          <p:nvPr userDrawn="1"/>
        </p:nvSpPr>
        <p:spPr>
          <a:xfrm>
            <a:off x="4502726" y="2225502"/>
            <a:ext cx="1577006" cy="69249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endParaRPr lang="en-US" sz="4050" b="1" cap="none" spc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96409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7355">
          <p15:clr>
            <a:srgbClr val="F26B43"/>
          </p15:clr>
        </p15:guide>
        <p15:guide id="4" pos="325">
          <p15:clr>
            <a:srgbClr val="F26B43"/>
          </p15:clr>
        </p15:guide>
        <p15:guide id="5" pos="665">
          <p15:clr>
            <a:srgbClr val="F26B43"/>
          </p15:clr>
        </p15:guide>
        <p15:guide id="6" pos="7015">
          <p15:clr>
            <a:srgbClr val="F26B43"/>
          </p15:clr>
        </p15:guide>
        <p15:guide id="7" orient="horz" pos="572">
          <p15:clr>
            <a:srgbClr val="F26B43"/>
          </p15:clr>
        </p15:guide>
        <p15:guide id="8" orient="horz" pos="300">
          <p15:clr>
            <a:srgbClr val="F26B43"/>
          </p15:clr>
        </p15:guide>
        <p15:guide id="9" orient="horz" pos="3748">
          <p15:clr>
            <a:srgbClr val="F26B43"/>
          </p15:clr>
        </p15:guide>
        <p15:guide id="10" orient="horz" pos="40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961DCEF6-AD6F-11B5-906E-996F21E924DE}"/>
              </a:ext>
            </a:extLst>
          </p:cNvPr>
          <p:cNvSpPr txBox="1"/>
          <p:nvPr/>
        </p:nvSpPr>
        <p:spPr>
          <a:xfrm>
            <a:off x="9211962" y="1204783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endParaRPr lang="en-US" sz="1350">
              <a:solidFill>
                <a:prstClr val="black"/>
              </a:solidFill>
              <a:latin typeface="[Inter 18pt]"/>
            </a:endParaRPr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3194E7D6-BEDF-7DEE-8425-AA8FF79AA4E1}"/>
              </a:ext>
            </a:extLst>
          </p:cNvPr>
          <p:cNvSpPr/>
          <p:nvPr/>
        </p:nvSpPr>
        <p:spPr>
          <a:xfrm>
            <a:off x="685800" y="2955472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</a:t>
            </a:r>
          </a:p>
          <a:p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Verlocity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  <a:p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System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0613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7EA57-CCF5-27B3-CCFC-06ED779F3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3">
            <a:extLst>
              <a:ext uri="{FF2B5EF4-FFF2-40B4-BE49-F238E27FC236}">
                <a16:creationId xmlns:a16="http://schemas.microsoft.com/office/drawing/2014/main" id="{025A8D42-A9D8-5EA0-AE02-B22C83E0D01E}"/>
              </a:ext>
            </a:extLst>
          </p:cNvPr>
          <p:cNvSpPr/>
          <p:nvPr/>
        </p:nvSpPr>
        <p:spPr>
          <a:xfrm>
            <a:off x="457200" y="274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50" dirty="0">
                <a:solidFill>
                  <a:srgbClr val="00A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VERLOCITY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FF94EA33-A147-4D3A-7EAF-2B9FB96830CA}"/>
              </a:ext>
            </a:extLst>
          </p:cNvPr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deliver profitable, predictable growth at scale.</a:t>
            </a:r>
            <a:endParaRPr lang="en-US" sz="2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5970869B-7ADA-38FE-CD3A-5C098BF7D885}"/>
              </a:ext>
            </a:extLst>
          </p:cNvPr>
          <p:cNvSpPr/>
          <p:nvPr/>
        </p:nvSpPr>
        <p:spPr>
          <a:xfrm>
            <a:off x="457200" y="960120"/>
            <a:ext cx="1645920" cy="36576"/>
          </a:xfrm>
          <a:prstGeom prst="rect">
            <a:avLst/>
          </a:prstGeom>
          <a:solidFill>
            <a:srgbClr val="00A3C8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01001FBF-54A5-CDF8-BC1A-F0C78FA247E3}"/>
              </a:ext>
            </a:extLst>
          </p:cNvPr>
          <p:cNvSpPr/>
          <p:nvPr/>
        </p:nvSpPr>
        <p:spPr>
          <a:xfrm>
            <a:off x="457200" y="118872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E0F7FA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27F1FEA1-B980-6A6C-48D2-B7EA33D6BECB}"/>
              </a:ext>
            </a:extLst>
          </p:cNvPr>
          <p:cNvSpPr/>
          <p:nvPr/>
        </p:nvSpPr>
        <p:spPr>
          <a:xfrm>
            <a:off x="685800" y="13716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Verlocity delivers profitable, predictable growth at scale — helping community banks acquire, nurture, and retain high-value relationships so they can compete and win.</a:t>
            </a: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64B17F2A-FA47-F6E3-CBB4-2822699BF43C}"/>
              </a:ext>
            </a:extLst>
          </p:cNvPr>
          <p:cNvSpPr/>
          <p:nvPr/>
        </p:nvSpPr>
        <p:spPr>
          <a:xfrm>
            <a:off x="457200" y="2468880"/>
            <a:ext cx="201168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6C0D4B5F-A1D3-7C53-C74D-97092B653D91}"/>
              </a:ext>
            </a:extLst>
          </p:cNvPr>
          <p:cNvSpPr/>
          <p:nvPr/>
        </p:nvSpPr>
        <p:spPr>
          <a:xfrm>
            <a:off x="457200" y="2651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00A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70+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8D10C570-7F60-41B6-D964-88AE2B41E9A2}"/>
              </a:ext>
            </a:extLst>
          </p:cNvPr>
          <p:cNvSpPr/>
          <p:nvPr/>
        </p:nvSpPr>
        <p:spPr>
          <a:xfrm>
            <a:off x="54864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Institutions Served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61EE5C2C-0217-EED4-0C39-C505E4FD47C3}"/>
              </a:ext>
            </a:extLst>
          </p:cNvPr>
          <p:cNvSpPr/>
          <p:nvPr/>
        </p:nvSpPr>
        <p:spPr>
          <a:xfrm>
            <a:off x="54864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banks &amp; credit unions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296E2A19-B64A-C6A7-2BDA-F1306F436D6E}"/>
              </a:ext>
            </a:extLst>
          </p:cNvPr>
          <p:cNvSpPr/>
          <p:nvPr/>
        </p:nvSpPr>
        <p:spPr>
          <a:xfrm>
            <a:off x="2606040" y="2468880"/>
            <a:ext cx="201168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6BB72C21-E4EA-FB08-A245-A6FBC44CACD1}"/>
              </a:ext>
            </a:extLst>
          </p:cNvPr>
          <p:cNvSpPr/>
          <p:nvPr/>
        </p:nvSpPr>
        <p:spPr>
          <a:xfrm>
            <a:off x="2606040" y="2651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00A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AA5BB653-EBB7-31F1-BAB7-8D7F4E25F3B5}"/>
              </a:ext>
            </a:extLst>
          </p:cNvPr>
          <p:cNvSpPr/>
          <p:nvPr/>
        </p:nvSpPr>
        <p:spPr>
          <a:xfrm>
            <a:off x="269748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FI Experience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4C7011BD-3394-6A1D-7A5A-7B27369E73E2}"/>
              </a:ext>
            </a:extLst>
          </p:cNvPr>
          <p:cNvSpPr/>
          <p:nvPr/>
        </p:nvSpPr>
        <p:spPr>
          <a:xfrm>
            <a:off x="269748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Banker-led, not vendor-led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16">
            <a:extLst>
              <a:ext uri="{FF2B5EF4-FFF2-40B4-BE49-F238E27FC236}">
                <a16:creationId xmlns:a16="http://schemas.microsoft.com/office/drawing/2014/main" id="{A3421946-28D8-272A-34BB-47B1B9ABFECD}"/>
              </a:ext>
            </a:extLst>
          </p:cNvPr>
          <p:cNvSpPr/>
          <p:nvPr/>
        </p:nvSpPr>
        <p:spPr>
          <a:xfrm>
            <a:off x="4754880" y="2468880"/>
            <a:ext cx="201168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38175C23-82C0-FF25-6C99-69B6F51174EE}"/>
              </a:ext>
            </a:extLst>
          </p:cNvPr>
          <p:cNvSpPr/>
          <p:nvPr/>
        </p:nvSpPr>
        <p:spPr>
          <a:xfrm>
            <a:off x="4754880" y="2651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00A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98E0B722-7B77-D1B9-1A52-B5CAD90F7307}"/>
              </a:ext>
            </a:extLst>
          </p:cNvPr>
          <p:cNvSpPr/>
          <p:nvPr/>
        </p:nvSpPr>
        <p:spPr>
          <a:xfrm>
            <a:off x="484632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Components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19">
            <a:extLst>
              <a:ext uri="{FF2B5EF4-FFF2-40B4-BE49-F238E27FC236}">
                <a16:creationId xmlns:a16="http://schemas.microsoft.com/office/drawing/2014/main" id="{DC9F298A-F0F4-1113-59C2-EA066AA98D2E}"/>
              </a:ext>
            </a:extLst>
          </p:cNvPr>
          <p:cNvSpPr/>
          <p:nvPr/>
        </p:nvSpPr>
        <p:spPr>
          <a:xfrm>
            <a:off x="484632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system from insight to retention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20">
            <a:extLst>
              <a:ext uri="{FF2B5EF4-FFF2-40B4-BE49-F238E27FC236}">
                <a16:creationId xmlns:a16="http://schemas.microsoft.com/office/drawing/2014/main" id="{CEE58DC2-99EF-9424-9122-F6ECA25EC4D2}"/>
              </a:ext>
            </a:extLst>
          </p:cNvPr>
          <p:cNvSpPr/>
          <p:nvPr/>
        </p:nvSpPr>
        <p:spPr>
          <a:xfrm>
            <a:off x="6903720" y="2468880"/>
            <a:ext cx="201168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A44D4310-7435-D2DC-52C3-4624FD288E2A}"/>
              </a:ext>
            </a:extLst>
          </p:cNvPr>
          <p:cNvSpPr/>
          <p:nvPr/>
        </p:nvSpPr>
        <p:spPr>
          <a:xfrm>
            <a:off x="6903720" y="2651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00A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BMAP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22">
            <a:extLst>
              <a:ext uri="{FF2B5EF4-FFF2-40B4-BE49-F238E27FC236}">
                <a16:creationId xmlns:a16="http://schemas.microsoft.com/office/drawing/2014/main" id="{0EF7AF69-0A69-0A30-F034-173E3A0B5FE4}"/>
              </a:ext>
            </a:extLst>
          </p:cNvPr>
          <p:cNvSpPr/>
          <p:nvPr/>
        </p:nvSpPr>
        <p:spPr>
          <a:xfrm>
            <a:off x="699516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Truth First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23">
            <a:extLst>
              <a:ext uri="{FF2B5EF4-FFF2-40B4-BE49-F238E27FC236}">
                <a16:creationId xmlns:a16="http://schemas.microsoft.com/office/drawing/2014/main" id="{2E4C027C-E4F1-8CBD-B083-DE93F20194E2}"/>
              </a:ext>
            </a:extLst>
          </p:cNvPr>
          <p:cNvSpPr/>
          <p:nvPr/>
        </p:nvSpPr>
        <p:spPr>
          <a:xfrm>
            <a:off x="699516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where to invest before you spend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84219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15">
            <a:extLst>
              <a:ext uri="{FF2B5EF4-FFF2-40B4-BE49-F238E27FC236}">
                <a16:creationId xmlns:a16="http://schemas.microsoft.com/office/drawing/2014/main" id="{50CE5844-07B1-C7D3-8F52-41F7DF90149A}"/>
              </a:ext>
            </a:extLst>
          </p:cNvPr>
          <p:cNvSpPr/>
          <p:nvPr/>
        </p:nvSpPr>
        <p:spPr>
          <a:xfrm>
            <a:off x="6126480" y="2194560"/>
            <a:ext cx="269748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/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7">
            <a:extLst>
              <a:ext uri="{FF2B5EF4-FFF2-40B4-BE49-F238E27FC236}">
                <a16:creationId xmlns:a16="http://schemas.microsoft.com/office/drawing/2014/main" id="{3555493C-B0C1-F37A-D615-EAA42F65AA3D}"/>
              </a:ext>
            </a:extLst>
          </p:cNvPr>
          <p:cNvSpPr/>
          <p:nvPr/>
        </p:nvSpPr>
        <p:spPr>
          <a:xfrm>
            <a:off x="457200" y="2194560"/>
            <a:ext cx="269748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/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11">
            <a:extLst>
              <a:ext uri="{FF2B5EF4-FFF2-40B4-BE49-F238E27FC236}">
                <a16:creationId xmlns:a16="http://schemas.microsoft.com/office/drawing/2014/main" id="{374D54FD-A8CB-095D-661B-2E7C5B316514}"/>
              </a:ext>
            </a:extLst>
          </p:cNvPr>
          <p:cNvSpPr/>
          <p:nvPr/>
        </p:nvSpPr>
        <p:spPr>
          <a:xfrm>
            <a:off x="3291840" y="2194560"/>
            <a:ext cx="269748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/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FF349FBF-7D49-0E9D-18C5-2A86F2228EF2}"/>
              </a:ext>
            </a:extLst>
          </p:cNvPr>
          <p:cNvSpPr/>
          <p:nvPr/>
        </p:nvSpPr>
        <p:spPr>
          <a:xfrm>
            <a:off x="457200" y="594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hardest part isn’t saying “no” to marketing.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It’s saying yes without knowing whether you’re investing wisely.</a:t>
            </a:r>
            <a:endParaRPr lang="en-US" sz="200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50B1532-E66D-DE58-E4B1-E1B13BCF1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169" y="537781"/>
            <a:ext cx="7108255" cy="994172"/>
          </a:xfrm>
        </p:spPr>
        <p:txBody>
          <a:bodyPr/>
          <a:lstStyle/>
          <a:p>
            <a:br>
              <a:rPr lang="en-US" dirty="0">
                <a:latin typeface="Inter 18pt 18pt" panose="02000503000000020004" pitchFamily="2" charset="0"/>
                <a:ea typeface="Inter 18pt 18pt" panose="02000503000000020004" pitchFamily="2" charset="0"/>
                <a:cs typeface="Inter Tight Medium" pitchFamily="2" charset="0"/>
              </a:rPr>
            </a:br>
            <a:endParaRPr 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4EF9BA9-4FEB-AD6B-2337-B74546B6B57D}"/>
              </a:ext>
            </a:extLst>
          </p:cNvPr>
          <p:cNvSpPr/>
          <p:nvPr/>
        </p:nvSpPr>
        <p:spPr>
          <a:xfrm>
            <a:off x="457200" y="320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A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D877BA86-6F99-98A8-BA4E-43ADBADEF734}"/>
              </a:ext>
            </a:extLst>
          </p:cNvPr>
          <p:cNvSpPr/>
          <p:nvPr/>
        </p:nvSpPr>
        <p:spPr>
          <a:xfrm>
            <a:off x="457200" y="1325880"/>
            <a:ext cx="1645920" cy="36576"/>
          </a:xfrm>
          <a:prstGeom prst="rect">
            <a:avLst/>
          </a:prstGeom>
          <a:solidFill>
            <a:srgbClr val="00A3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00D7AF6B-21FB-C5A1-9712-63CC1E177BAB}"/>
              </a:ext>
            </a:extLst>
          </p:cNvPr>
          <p:cNvSpPr/>
          <p:nvPr/>
        </p:nvSpPr>
        <p:spPr>
          <a:xfrm>
            <a:off x="457200" y="1508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community banks still allocate growth capital by tradition — equal investment across unequal opportunities, wasted spend where the battle is already lost, and missed growth where conditions are ripe to win.</a:t>
            </a:r>
            <a:endParaRPr lang="en-US" sz="1300" dirty="0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B3CF50ED-2C0D-252F-E3DD-A23415CE14CC}"/>
              </a:ext>
            </a:extLst>
          </p:cNvPr>
          <p:cNvSpPr/>
          <p:nvPr/>
        </p:nvSpPr>
        <p:spPr>
          <a:xfrm>
            <a:off x="457200" y="2194560"/>
            <a:ext cx="2697480" cy="54864"/>
          </a:xfrm>
          <a:prstGeom prst="rect">
            <a:avLst/>
          </a:prstGeom>
          <a:solidFill>
            <a:srgbClr val="00A3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4CA0F82E-83E4-84B6-EA91-9EFAF03C7C1F}"/>
              </a:ext>
            </a:extLst>
          </p:cNvPr>
          <p:cNvSpPr/>
          <p:nvPr/>
        </p:nvSpPr>
        <p:spPr>
          <a:xfrm>
            <a:off x="640080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Data</a:t>
            </a:r>
            <a:endParaRPr lang="en-US" sz="150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08433953-7EC1-C1AB-8FD0-C5A407FCD28C}"/>
              </a:ext>
            </a:extLst>
          </p:cNvPr>
          <p:cNvSpPr/>
          <p:nvPr/>
        </p:nvSpPr>
        <p:spPr>
          <a:xfrm>
            <a:off x="640080" y="29260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data, deposit data, and branch performance live in separate systems. No one owns the connection.</a:t>
            </a:r>
            <a:endParaRPr lang="en-US" sz="1300" dirty="0"/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DFDD0608-1842-1EB3-F255-96B05C0C27FC}"/>
              </a:ext>
            </a:extLst>
          </p:cNvPr>
          <p:cNvSpPr/>
          <p:nvPr/>
        </p:nvSpPr>
        <p:spPr>
          <a:xfrm>
            <a:off x="3291840" y="2194560"/>
            <a:ext cx="2697480" cy="54864"/>
          </a:xfrm>
          <a:prstGeom prst="rect">
            <a:avLst/>
          </a:prstGeom>
          <a:solidFill>
            <a:srgbClr val="00A3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3B7349BE-60C5-3306-51B5-6681509A3A26}"/>
              </a:ext>
            </a:extLst>
          </p:cNvPr>
          <p:cNvSpPr/>
          <p:nvPr/>
        </p:nvSpPr>
        <p:spPr>
          <a:xfrm>
            <a:off x="3474720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Guesswork Allocation</a:t>
            </a:r>
            <a:endParaRPr lang="en-US" sz="1500" dirty="0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EF69617D-F784-C70A-E6B2-73ECE164B4B0}"/>
              </a:ext>
            </a:extLst>
          </p:cNvPr>
          <p:cNvSpPr/>
          <p:nvPr/>
        </p:nvSpPr>
        <p:spPr>
          <a:xfrm>
            <a:off x="3474720" y="29260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Budgets follow history, internal advocacy, or equal splits — not opportunity or competitive vulnerability.</a:t>
            </a:r>
            <a:endParaRPr lang="en-US" sz="1300" dirty="0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5B65669C-0B11-E9FF-B65A-EC6D62C541FA}"/>
              </a:ext>
            </a:extLst>
          </p:cNvPr>
          <p:cNvSpPr/>
          <p:nvPr/>
        </p:nvSpPr>
        <p:spPr>
          <a:xfrm>
            <a:off x="6309360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Unclear ROI</a:t>
            </a:r>
            <a:endParaRPr lang="en-US" sz="1500" dirty="0"/>
          </a:p>
        </p:txBody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74732E02-509C-4B53-2D9E-80163E31BB85}"/>
              </a:ext>
            </a:extLst>
          </p:cNvPr>
          <p:cNvSpPr/>
          <p:nvPr/>
        </p:nvSpPr>
        <p:spPr>
          <a:xfrm>
            <a:off x="6309360" y="310242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cannot see which investments actually move deposit growth and profitability.</a:t>
            </a:r>
            <a:endParaRPr lang="en-US" sz="1300" dirty="0"/>
          </a:p>
        </p:txBody>
      </p:sp>
      <p:sp>
        <p:nvSpPr>
          <p:cNvPr id="34" name="Shape 16">
            <a:extLst>
              <a:ext uri="{FF2B5EF4-FFF2-40B4-BE49-F238E27FC236}">
                <a16:creationId xmlns:a16="http://schemas.microsoft.com/office/drawing/2014/main" id="{CCC2EE57-7F8B-AA92-3546-938E6F545F90}"/>
              </a:ext>
            </a:extLst>
          </p:cNvPr>
          <p:cNvSpPr/>
          <p:nvPr/>
        </p:nvSpPr>
        <p:spPr>
          <a:xfrm>
            <a:off x="6126480" y="2194560"/>
            <a:ext cx="2697480" cy="54864"/>
          </a:xfrm>
          <a:prstGeom prst="rect">
            <a:avLst/>
          </a:prstGeom>
          <a:solidFill>
            <a:srgbClr val="00A3C8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312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0EFDD3BE-0E55-F1DD-4572-E0AED1E2359B}"/>
              </a:ext>
            </a:extLst>
          </p:cNvPr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50" dirty="0">
                <a:solidFill>
                  <a:srgbClr val="00A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0454DB3F-0CDB-7C21-D450-F7A3C13F91EA}"/>
              </a:ext>
            </a:extLst>
          </p:cNvPr>
          <p:cNvSpPr/>
          <p:nvPr/>
        </p:nvSpPr>
        <p:spPr>
          <a:xfrm>
            <a:off x="4572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components. Three phases. One compounding system.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937A9A3D-A3AB-4795-B339-0F44A5FAE27F}"/>
              </a:ext>
            </a:extLst>
          </p:cNvPr>
          <p:cNvSpPr/>
          <p:nvPr/>
        </p:nvSpPr>
        <p:spPr>
          <a:xfrm>
            <a:off x="457200" y="914400"/>
            <a:ext cx="1645920" cy="36576"/>
          </a:xfrm>
          <a:prstGeom prst="rect">
            <a:avLst/>
          </a:prstGeom>
          <a:solidFill>
            <a:srgbClr val="00A3C8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0540B6DB-29CD-EAF7-649C-F3BFC13551A3}"/>
              </a:ext>
            </a:extLst>
          </p:cNvPr>
          <p:cNvSpPr/>
          <p:nvPr/>
        </p:nvSpPr>
        <p:spPr>
          <a:xfrm>
            <a:off x="457200" y="10972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0F7FA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C1007A1C-66F1-B549-09B1-388DF6A08370}"/>
              </a:ext>
            </a:extLst>
          </p:cNvPr>
          <p:cNvSpPr/>
          <p:nvPr/>
        </p:nvSpPr>
        <p:spPr>
          <a:xfrm>
            <a:off x="594360" y="117043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pairs </a:t>
            </a:r>
            <a:r>
              <a:rPr lang="en-US" sz="120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Clarity </a:t>
            </a:r>
            <a:r>
              <a:rPr lang="en-US" sz="1200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(what makes you worth choosing) with BMAP / Market Truth (where the opportunity is). Together they give the growth engine real horsepower.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708B235D-FF84-34D4-9694-3C802721EBF8}"/>
              </a:ext>
            </a:extLst>
          </p:cNvPr>
          <p:cNvSpPr/>
          <p:nvPr/>
        </p:nvSpPr>
        <p:spPr>
          <a:xfrm>
            <a:off x="457200" y="173736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0D2B4A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715CD613-FE25-D89C-F527-D129B89C7446}"/>
              </a:ext>
            </a:extLst>
          </p:cNvPr>
          <p:cNvSpPr/>
          <p:nvPr/>
        </p:nvSpPr>
        <p:spPr>
          <a:xfrm>
            <a:off x="457200" y="17647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E9980FED-66FE-DC0D-231E-B9563E7AAC40}"/>
              </a:ext>
            </a:extLst>
          </p:cNvPr>
          <p:cNvSpPr/>
          <p:nvPr/>
        </p:nvSpPr>
        <p:spPr>
          <a:xfrm>
            <a:off x="457200" y="19933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A5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strategic clarity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EF83A4D8-FFD6-F2A2-76B5-D46EDC389776}"/>
              </a:ext>
            </a:extLst>
          </p:cNvPr>
          <p:cNvSpPr/>
          <p:nvPr/>
        </p:nvSpPr>
        <p:spPr>
          <a:xfrm>
            <a:off x="457200" y="237744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4229C4FD-5442-9FA6-9443-C1FB3FE35FFD}"/>
              </a:ext>
            </a:extLst>
          </p:cNvPr>
          <p:cNvSpPr/>
          <p:nvPr/>
        </p:nvSpPr>
        <p:spPr>
          <a:xfrm>
            <a:off x="594360" y="248716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00A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C302F85F-6919-325B-B1D2-AAF799CAE805}"/>
              </a:ext>
            </a:extLst>
          </p:cNvPr>
          <p:cNvSpPr/>
          <p:nvPr/>
        </p:nvSpPr>
        <p:spPr>
          <a:xfrm>
            <a:off x="594360" y="2743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Clarity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AB7D1F20-C649-BF7F-9C9B-95578F7E5D73}"/>
              </a:ext>
            </a:extLst>
          </p:cNvPr>
          <p:cNvSpPr/>
          <p:nvPr/>
        </p:nvSpPr>
        <p:spPr>
          <a:xfrm>
            <a:off x="594360" y="29992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credibly own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B8AAF639-A73A-C5A6-7656-AC91C9DB8F06}"/>
              </a:ext>
            </a:extLst>
          </p:cNvPr>
          <p:cNvSpPr/>
          <p:nvPr/>
        </p:nvSpPr>
        <p:spPr>
          <a:xfrm>
            <a:off x="457200" y="338328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8D1366DD-95E6-030A-A7A2-EA231F59D6E9}"/>
              </a:ext>
            </a:extLst>
          </p:cNvPr>
          <p:cNvSpPr/>
          <p:nvPr/>
        </p:nvSpPr>
        <p:spPr>
          <a:xfrm>
            <a:off x="594360" y="34930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00A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1F194591-D624-870D-1313-D5A94BC6192F}"/>
              </a:ext>
            </a:extLst>
          </p:cNvPr>
          <p:cNvSpPr/>
          <p:nvPr/>
        </p:nvSpPr>
        <p:spPr>
          <a:xfrm>
            <a:off x="594360" y="37490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BMAP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B82990AF-FACC-229F-7203-7208FE66B78E}"/>
              </a:ext>
            </a:extLst>
          </p:cNvPr>
          <p:cNvSpPr/>
          <p:nvPr/>
        </p:nvSpPr>
        <p:spPr>
          <a:xfrm>
            <a:off x="594360" y="40050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invest capital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8E8DEAA5-84F7-9FCC-9473-599E22F14FD7}"/>
              </a:ext>
            </a:extLst>
          </p:cNvPr>
          <p:cNvSpPr/>
          <p:nvPr/>
        </p:nvSpPr>
        <p:spPr>
          <a:xfrm>
            <a:off x="3337560" y="173736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0D4A6B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5407EAB3-77B3-C600-87A5-32B11A1878A7}"/>
              </a:ext>
            </a:extLst>
          </p:cNvPr>
          <p:cNvSpPr/>
          <p:nvPr/>
        </p:nvSpPr>
        <p:spPr>
          <a:xfrm>
            <a:off x="3337560" y="17647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08B7BB77-FE59-6109-69C3-95B045D4E456}"/>
              </a:ext>
            </a:extLst>
          </p:cNvPr>
          <p:cNvSpPr/>
          <p:nvPr/>
        </p:nvSpPr>
        <p:spPr>
          <a:xfrm>
            <a:off x="3337560" y="19933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A5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strategy into execution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4148E69C-057D-B942-3F88-519AAD3988B9}"/>
              </a:ext>
            </a:extLst>
          </p:cNvPr>
          <p:cNvSpPr/>
          <p:nvPr/>
        </p:nvSpPr>
        <p:spPr>
          <a:xfrm>
            <a:off x="3337560" y="237744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73BCB972-FBCC-7F49-D22D-412050044543}"/>
              </a:ext>
            </a:extLst>
          </p:cNvPr>
          <p:cNvSpPr/>
          <p:nvPr/>
        </p:nvSpPr>
        <p:spPr>
          <a:xfrm>
            <a:off x="3474720" y="248716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00A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1E32981C-79B6-FEE0-F63F-C178CB0A8983}"/>
              </a:ext>
            </a:extLst>
          </p:cNvPr>
          <p:cNvSpPr/>
          <p:nvPr/>
        </p:nvSpPr>
        <p:spPr>
          <a:xfrm>
            <a:off x="3474720" y="2743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AudienceFinder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D1451331-1CD2-70FC-321E-F56AB273A2AF}"/>
              </a:ext>
            </a:extLst>
          </p:cNvPr>
          <p:cNvSpPr/>
          <p:nvPr/>
        </p:nvSpPr>
        <p:spPr>
          <a:xfrm>
            <a:off x="3474720" y="29992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to win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6766FDC-2DD3-580C-2C9C-8AF6C3DA35EC}"/>
              </a:ext>
            </a:extLst>
          </p:cNvPr>
          <p:cNvSpPr/>
          <p:nvPr/>
        </p:nvSpPr>
        <p:spPr>
          <a:xfrm>
            <a:off x="3337560" y="338328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3012A911-05E4-1F00-26A6-3024641DE4D7}"/>
              </a:ext>
            </a:extLst>
          </p:cNvPr>
          <p:cNvSpPr/>
          <p:nvPr/>
        </p:nvSpPr>
        <p:spPr>
          <a:xfrm>
            <a:off x="3474720" y="34930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00A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09F6C62-7ED5-3C40-DFC0-31C326274BC2}"/>
              </a:ext>
            </a:extLst>
          </p:cNvPr>
          <p:cNvSpPr/>
          <p:nvPr/>
        </p:nvSpPr>
        <p:spPr>
          <a:xfrm>
            <a:off x="3474720" y="37490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MediaPredict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E2981C27-E516-1387-A909-A5A7AEE72425}"/>
              </a:ext>
            </a:extLst>
          </p:cNvPr>
          <p:cNvSpPr/>
          <p:nvPr/>
        </p:nvSpPr>
        <p:spPr>
          <a:xfrm>
            <a:off x="3474720" y="40050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convert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0">
            <a:extLst>
              <a:ext uri="{FF2B5EF4-FFF2-40B4-BE49-F238E27FC236}">
                <a16:creationId xmlns:a16="http://schemas.microsoft.com/office/drawing/2014/main" id="{1D380D61-C28C-18B9-86C6-EE07ABF2675A}"/>
              </a:ext>
            </a:extLst>
          </p:cNvPr>
          <p:cNvSpPr/>
          <p:nvPr/>
        </p:nvSpPr>
        <p:spPr>
          <a:xfrm>
            <a:off x="6217920" y="173736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0A6B7A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1">
            <a:extLst>
              <a:ext uri="{FF2B5EF4-FFF2-40B4-BE49-F238E27FC236}">
                <a16:creationId xmlns:a16="http://schemas.microsoft.com/office/drawing/2014/main" id="{6283CF62-ED5A-28C7-B989-7CD272B7C81C}"/>
              </a:ext>
            </a:extLst>
          </p:cNvPr>
          <p:cNvSpPr/>
          <p:nvPr/>
        </p:nvSpPr>
        <p:spPr>
          <a:xfrm>
            <a:off x="6217920" y="17647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1CF4585A-1904-6808-5289-461772765244}"/>
              </a:ext>
            </a:extLst>
          </p:cNvPr>
          <p:cNvSpPr/>
          <p:nvPr/>
        </p:nvSpPr>
        <p:spPr>
          <a:xfrm>
            <a:off x="6217920" y="19933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A5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Compounds growth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9A757C77-2AE2-983B-D6BE-1165B3B26F7B}"/>
              </a:ext>
            </a:extLst>
          </p:cNvPr>
          <p:cNvSpPr/>
          <p:nvPr/>
        </p:nvSpPr>
        <p:spPr>
          <a:xfrm>
            <a:off x="6217920" y="237744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22A77576-4A15-BC42-245B-05025CE49F71}"/>
              </a:ext>
            </a:extLst>
          </p:cNvPr>
          <p:cNvSpPr/>
          <p:nvPr/>
        </p:nvSpPr>
        <p:spPr>
          <a:xfrm>
            <a:off x="6355080" y="248716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00A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5">
            <a:extLst>
              <a:ext uri="{FF2B5EF4-FFF2-40B4-BE49-F238E27FC236}">
                <a16:creationId xmlns:a16="http://schemas.microsoft.com/office/drawing/2014/main" id="{920F4B3E-BD1F-3EB7-E78F-04F27227F2C6}"/>
              </a:ext>
            </a:extLst>
          </p:cNvPr>
          <p:cNvSpPr/>
          <p:nvPr/>
        </p:nvSpPr>
        <p:spPr>
          <a:xfrm>
            <a:off x="6355080" y="2743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&amp; Engagement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36">
            <a:extLst>
              <a:ext uri="{FF2B5EF4-FFF2-40B4-BE49-F238E27FC236}">
                <a16:creationId xmlns:a16="http://schemas.microsoft.com/office/drawing/2014/main" id="{73FFEE24-A025-D0EC-6551-1C603A85D2F9}"/>
              </a:ext>
            </a:extLst>
          </p:cNvPr>
          <p:cNvSpPr/>
          <p:nvPr/>
        </p:nvSpPr>
        <p:spPr>
          <a:xfrm>
            <a:off x="6355080" y="29992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onboard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37">
            <a:extLst>
              <a:ext uri="{FF2B5EF4-FFF2-40B4-BE49-F238E27FC236}">
                <a16:creationId xmlns:a16="http://schemas.microsoft.com/office/drawing/2014/main" id="{F4618EA9-4C13-8349-CADD-364F038E968F}"/>
              </a:ext>
            </a:extLst>
          </p:cNvPr>
          <p:cNvSpPr/>
          <p:nvPr/>
        </p:nvSpPr>
        <p:spPr>
          <a:xfrm>
            <a:off x="6217920" y="338328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38">
            <a:extLst>
              <a:ext uri="{FF2B5EF4-FFF2-40B4-BE49-F238E27FC236}">
                <a16:creationId xmlns:a16="http://schemas.microsoft.com/office/drawing/2014/main" id="{749E3168-2773-2A5F-8865-294806E6A573}"/>
              </a:ext>
            </a:extLst>
          </p:cNvPr>
          <p:cNvSpPr/>
          <p:nvPr/>
        </p:nvSpPr>
        <p:spPr>
          <a:xfrm>
            <a:off x="6355080" y="34930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00A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39">
            <a:extLst>
              <a:ext uri="{FF2B5EF4-FFF2-40B4-BE49-F238E27FC236}">
                <a16:creationId xmlns:a16="http://schemas.microsoft.com/office/drawing/2014/main" id="{AE97BBA7-20D3-51BE-02B5-FB2C633B107F}"/>
              </a:ext>
            </a:extLst>
          </p:cNvPr>
          <p:cNvSpPr/>
          <p:nvPr/>
        </p:nvSpPr>
        <p:spPr>
          <a:xfrm>
            <a:off x="6355080" y="37490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&amp; Deepening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0">
            <a:extLst>
              <a:ext uri="{FF2B5EF4-FFF2-40B4-BE49-F238E27FC236}">
                <a16:creationId xmlns:a16="http://schemas.microsoft.com/office/drawing/2014/main" id="{D76F0809-F6F1-030E-0190-0B6E9BEEBE31}"/>
              </a:ext>
            </a:extLst>
          </p:cNvPr>
          <p:cNvSpPr/>
          <p:nvPr/>
        </p:nvSpPr>
        <p:spPr>
          <a:xfrm>
            <a:off x="6355080" y="40050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grow share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94392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A5C164CE-6C2B-49DF-1E55-EFC0EF8DCB37}"/>
              </a:ext>
            </a:extLst>
          </p:cNvPr>
          <p:cNvSpPr/>
          <p:nvPr/>
        </p:nvSpPr>
        <p:spPr>
          <a:xfrm>
            <a:off x="457200" y="274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50" dirty="0">
                <a:solidFill>
                  <a:srgbClr val="00A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 ·  MARKET TRUTH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D1286B26-6412-DB41-CDE0-AA3427953079}"/>
              </a:ext>
            </a:extLst>
          </p:cNvPr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BMAP — Know exactly where to invest before you spend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A4D54AE9-E657-B359-F2AE-D543A4A195CA}"/>
              </a:ext>
            </a:extLst>
          </p:cNvPr>
          <p:cNvSpPr/>
          <p:nvPr/>
        </p:nvSpPr>
        <p:spPr>
          <a:xfrm>
            <a:off x="457200" y="914400"/>
            <a:ext cx="1645920" cy="36576"/>
          </a:xfrm>
          <a:prstGeom prst="rect">
            <a:avLst/>
          </a:prstGeom>
          <a:solidFill>
            <a:srgbClr val="00A3C8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CA6ED1D0-1913-E096-9EE6-28FCF134E573}"/>
              </a:ext>
            </a:extLst>
          </p:cNvPr>
          <p:cNvSpPr/>
          <p:nvPr/>
        </p:nvSpPr>
        <p:spPr>
          <a:xfrm>
            <a:off x="457200" y="1097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Market Assessment Platform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4964838B-8446-6EE3-AF9F-A0EA254E2121}"/>
              </a:ext>
            </a:extLst>
          </p:cNvPr>
          <p:cNvSpPr/>
          <p:nvPr/>
        </p:nvSpPr>
        <p:spPr>
          <a:xfrm>
            <a:off x="457200" y="14173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proprietary, data-driven system that scores every branch in your network for deposit growth opportunity, competitive vulnerability, and the best actions to take.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57012A7C-EE46-58D9-706C-76E60A71C925}"/>
              </a:ext>
            </a:extLst>
          </p:cNvPr>
          <p:cNvSpPr/>
          <p:nvPr/>
        </p:nvSpPr>
        <p:spPr>
          <a:xfrm>
            <a:off x="457200" y="2286000"/>
            <a:ext cx="256032" cy="256032"/>
          </a:xfrm>
          <a:prstGeom prst="ellipse">
            <a:avLst/>
          </a:prstGeom>
          <a:solidFill>
            <a:srgbClr val="00A3C8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2FB75E9B-100A-E819-AA59-B28C88D08D59}"/>
              </a:ext>
            </a:extLst>
          </p:cNvPr>
          <p:cNvSpPr/>
          <p:nvPr/>
        </p:nvSpPr>
        <p:spPr>
          <a:xfrm>
            <a:off x="457200" y="2286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7451C532-F629-131B-68F4-3E780BBF6866}"/>
              </a:ext>
            </a:extLst>
          </p:cNvPr>
          <p:cNvSpPr/>
          <p:nvPr/>
        </p:nvSpPr>
        <p:spPr>
          <a:xfrm>
            <a:off x="868680" y="22402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Score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807650-5CE1-F7F2-BBF3-4A279520FE3A}"/>
              </a:ext>
            </a:extLst>
          </p:cNvPr>
          <p:cNvSpPr/>
          <p:nvPr/>
        </p:nvSpPr>
        <p:spPr>
          <a:xfrm>
            <a:off x="868680" y="24414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0–100 growth potential vs. state peers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EF01E887-BD1D-FE44-44DF-A9E27901C547}"/>
              </a:ext>
            </a:extLst>
          </p:cNvPr>
          <p:cNvSpPr/>
          <p:nvPr/>
        </p:nvSpPr>
        <p:spPr>
          <a:xfrm>
            <a:off x="457200" y="2788920"/>
            <a:ext cx="256032" cy="256032"/>
          </a:xfrm>
          <a:prstGeom prst="ellipse">
            <a:avLst/>
          </a:prstGeom>
          <a:solidFill>
            <a:srgbClr val="00A3C8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B24FD69F-ABEF-3719-0F58-752E6C3158D8}"/>
              </a:ext>
            </a:extLst>
          </p:cNvPr>
          <p:cNvSpPr/>
          <p:nvPr/>
        </p:nvSpPr>
        <p:spPr>
          <a:xfrm>
            <a:off x="457200" y="2788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6D34D2CF-E9FE-A445-341F-EF4E25C5224F}"/>
              </a:ext>
            </a:extLst>
          </p:cNvPr>
          <p:cNvSpPr/>
          <p:nvPr/>
        </p:nvSpPr>
        <p:spPr>
          <a:xfrm>
            <a:off x="868680" y="2743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Zones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E088C680-D0F1-CD06-F346-1A8CF3EF6494}"/>
              </a:ext>
            </a:extLst>
          </p:cNvPr>
          <p:cNvSpPr/>
          <p:nvPr/>
        </p:nvSpPr>
        <p:spPr>
          <a:xfrm>
            <a:off x="868680" y="29443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 · Analyze · Defend · Justify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1C56708C-12F2-572A-4CC2-6F29068E389A}"/>
              </a:ext>
            </a:extLst>
          </p:cNvPr>
          <p:cNvSpPr/>
          <p:nvPr/>
        </p:nvSpPr>
        <p:spPr>
          <a:xfrm>
            <a:off x="457200" y="3291840"/>
            <a:ext cx="256032" cy="256032"/>
          </a:xfrm>
          <a:prstGeom prst="ellipse">
            <a:avLst/>
          </a:prstGeom>
          <a:solidFill>
            <a:srgbClr val="00A3C8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962BC53C-7068-B322-2248-C47A417E0A0F}"/>
              </a:ext>
            </a:extLst>
          </p:cNvPr>
          <p:cNvSpPr/>
          <p:nvPr/>
        </p:nvSpPr>
        <p:spPr>
          <a:xfrm>
            <a:off x="457200" y="3291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DEB46A45-7803-1366-0E60-E59105993C79}"/>
              </a:ext>
            </a:extLst>
          </p:cNvPr>
          <p:cNvSpPr/>
          <p:nvPr/>
        </p:nvSpPr>
        <p:spPr>
          <a:xfrm>
            <a:off x="868680" y="32461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Vulnerability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7FC6BD8A-80C9-D27F-7C03-5061AA2CBB6E}"/>
              </a:ext>
            </a:extLst>
          </p:cNvPr>
          <p:cNvSpPr/>
          <p:nvPr/>
        </p:nvSpPr>
        <p:spPr>
          <a:xfrm>
            <a:off x="868680" y="34472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exposed — and why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A2455B85-2498-13A3-90C9-D53F39C2F27F}"/>
              </a:ext>
            </a:extLst>
          </p:cNvPr>
          <p:cNvSpPr/>
          <p:nvPr/>
        </p:nvSpPr>
        <p:spPr>
          <a:xfrm>
            <a:off x="457200" y="3794760"/>
            <a:ext cx="256032" cy="256032"/>
          </a:xfrm>
          <a:prstGeom prst="ellipse">
            <a:avLst/>
          </a:prstGeom>
          <a:solidFill>
            <a:srgbClr val="00A3C8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65128B09-2E00-33F1-DD25-40A855512B7C}"/>
              </a:ext>
            </a:extLst>
          </p:cNvPr>
          <p:cNvSpPr/>
          <p:nvPr/>
        </p:nvSpPr>
        <p:spPr>
          <a:xfrm>
            <a:off x="457200" y="3794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41D2C780-A0DA-9539-B8BF-DE5991868461}"/>
              </a:ext>
            </a:extLst>
          </p:cNvPr>
          <p:cNvSpPr/>
          <p:nvPr/>
        </p:nvSpPr>
        <p:spPr>
          <a:xfrm>
            <a:off x="868680" y="3749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Plays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775C7FDB-A368-83F7-6F2B-14C06B67C32D}"/>
              </a:ext>
            </a:extLst>
          </p:cNvPr>
          <p:cNvSpPr/>
          <p:nvPr/>
        </p:nvSpPr>
        <p:spPr>
          <a:xfrm>
            <a:off x="868680" y="39502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Next-best actions for media &amp; budget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FB4F52CE-013E-ED3F-216D-4D4C106462A3}"/>
              </a:ext>
            </a:extLst>
          </p:cNvPr>
          <p:cNvSpPr/>
          <p:nvPr/>
        </p:nvSpPr>
        <p:spPr>
          <a:xfrm>
            <a:off x="5760720" y="1097280"/>
            <a:ext cx="2926080" cy="3291840"/>
          </a:xfrm>
          <a:prstGeom prst="roundRect">
            <a:avLst>
              <a:gd name="adj" fmla="val 3125"/>
            </a:avLst>
          </a:prstGeom>
          <a:solidFill>
            <a:srgbClr val="0D2B4A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45B1596E-499B-30E6-FF45-D744135C2BBF}"/>
              </a:ext>
            </a:extLst>
          </p:cNvPr>
          <p:cNvSpPr/>
          <p:nvPr/>
        </p:nvSpPr>
        <p:spPr>
          <a:xfrm>
            <a:off x="5943600" y="13716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00A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24+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B5649C75-440D-F9F1-668D-4B22D50988FF}"/>
              </a:ext>
            </a:extLst>
          </p:cNvPr>
          <p:cNvSpPr/>
          <p:nvPr/>
        </p:nvSpPr>
        <p:spPr>
          <a:xfrm>
            <a:off x="5943600" y="20116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516CC7B0-B3D4-5977-C58E-AC47B38F6DEB}"/>
              </a:ext>
            </a:extLst>
          </p:cNvPr>
          <p:cNvSpPr/>
          <p:nvPr/>
        </p:nvSpPr>
        <p:spPr>
          <a:xfrm>
            <a:off x="5943600" y="2286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A5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Fused into one scoring engine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2B863830-665A-A7EA-63CC-9BBE789F2F46}"/>
              </a:ext>
            </a:extLst>
          </p:cNvPr>
          <p:cNvSpPr/>
          <p:nvPr/>
        </p:nvSpPr>
        <p:spPr>
          <a:xfrm>
            <a:off x="5989320" y="27889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FDIC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C7BC04FC-AEC1-2DF1-2975-EEA16BE41ED2}"/>
              </a:ext>
            </a:extLst>
          </p:cNvPr>
          <p:cNvSpPr/>
          <p:nvPr/>
        </p:nvSpPr>
        <p:spPr>
          <a:xfrm>
            <a:off x="7315200" y="27889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FFIEC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078E512D-ACC9-26FC-3EB0-4BAAD1BD1D6E}"/>
              </a:ext>
            </a:extLst>
          </p:cNvPr>
          <p:cNvSpPr/>
          <p:nvPr/>
        </p:nvSpPr>
        <p:spPr>
          <a:xfrm>
            <a:off x="5989320" y="31363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NCUA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1">
            <a:extLst>
              <a:ext uri="{FF2B5EF4-FFF2-40B4-BE49-F238E27FC236}">
                <a16:creationId xmlns:a16="http://schemas.microsoft.com/office/drawing/2014/main" id="{C398E037-8492-A292-9DB3-AB844697DECE}"/>
              </a:ext>
            </a:extLst>
          </p:cNvPr>
          <p:cNvSpPr/>
          <p:nvPr/>
        </p:nvSpPr>
        <p:spPr>
          <a:xfrm>
            <a:off x="7315200" y="31363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Census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C4AE1C69-BEB3-DAD9-0749-EC89090B8983}"/>
              </a:ext>
            </a:extLst>
          </p:cNvPr>
          <p:cNvSpPr/>
          <p:nvPr/>
        </p:nvSpPr>
        <p:spPr>
          <a:xfrm>
            <a:off x="5989320" y="348386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Labor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BB9AA3C9-CA6A-B4C8-96F9-1055D5C9CE57}"/>
              </a:ext>
            </a:extLst>
          </p:cNvPr>
          <p:cNvSpPr/>
          <p:nvPr/>
        </p:nvSpPr>
        <p:spPr>
          <a:xfrm>
            <a:off x="7315200" y="348386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Housing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E6548518-12A7-3FD4-911A-EC3AA2ED5141}"/>
              </a:ext>
            </a:extLst>
          </p:cNvPr>
          <p:cNvSpPr/>
          <p:nvPr/>
        </p:nvSpPr>
        <p:spPr>
          <a:xfrm>
            <a:off x="5989320" y="383133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Zillow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5">
            <a:extLst>
              <a:ext uri="{FF2B5EF4-FFF2-40B4-BE49-F238E27FC236}">
                <a16:creationId xmlns:a16="http://schemas.microsoft.com/office/drawing/2014/main" id="{420ADD21-5CE4-CB42-7649-A99E72AD5F80}"/>
              </a:ext>
            </a:extLst>
          </p:cNvPr>
          <p:cNvSpPr/>
          <p:nvPr/>
        </p:nvSpPr>
        <p:spPr>
          <a:xfrm>
            <a:off x="7315200" y="383133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PostGIS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26469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78BA8-25DC-3BF0-542E-0857D5083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EB782B2C-0D94-3E31-6230-6DCDC744338B}"/>
              </a:ext>
            </a:extLst>
          </p:cNvPr>
          <p:cNvSpPr/>
          <p:nvPr/>
        </p:nvSpPr>
        <p:spPr>
          <a:xfrm>
            <a:off x="457200" y="274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50" dirty="0">
                <a:solidFill>
                  <a:srgbClr val="00A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BMAP WORKS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66516AC-76C5-4D95-C364-F158B04A29A7}"/>
              </a:ext>
            </a:extLst>
          </p:cNvPr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branch receives a clear capital-allocation role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565B051-214E-7506-7A8F-6F8B254A2F74}"/>
              </a:ext>
            </a:extLst>
          </p:cNvPr>
          <p:cNvSpPr/>
          <p:nvPr/>
        </p:nvSpPr>
        <p:spPr>
          <a:xfrm>
            <a:off x="457200" y="914400"/>
            <a:ext cx="1645920" cy="36576"/>
          </a:xfrm>
          <a:prstGeom prst="rect">
            <a:avLst/>
          </a:prstGeom>
          <a:solidFill>
            <a:srgbClr val="00A3C8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588C4B3E-8B61-3E37-8205-9D85EFC8B397}"/>
              </a:ext>
            </a:extLst>
          </p:cNvPr>
          <p:cNvSpPr/>
          <p:nvPr/>
        </p:nvSpPr>
        <p:spPr>
          <a:xfrm>
            <a:off x="365760" y="1143000"/>
            <a:ext cx="2057400" cy="3200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C998484D-75AE-83D1-6CD6-F1D66CD0BE63}"/>
              </a:ext>
            </a:extLst>
          </p:cNvPr>
          <p:cNvSpPr/>
          <p:nvPr/>
        </p:nvSpPr>
        <p:spPr>
          <a:xfrm>
            <a:off x="365760" y="1143000"/>
            <a:ext cx="2057400" cy="960120"/>
          </a:xfrm>
          <a:prstGeom prst="rect">
            <a:avLst/>
          </a:prstGeom>
          <a:solidFill>
            <a:srgbClr val="4A5568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580F4751-9E7E-3D48-61BA-791D1C2454BC}"/>
              </a:ext>
            </a:extLst>
          </p:cNvPr>
          <p:cNvSpPr/>
          <p:nvPr/>
        </p:nvSpPr>
        <p:spPr>
          <a:xfrm>
            <a:off x="365760" y="1280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724330D8-E453-3202-A505-71EF818B8A53}"/>
              </a:ext>
            </a:extLst>
          </p:cNvPr>
          <p:cNvSpPr/>
          <p:nvPr/>
        </p:nvSpPr>
        <p:spPr>
          <a:xfrm>
            <a:off x="365760" y="16916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25%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3A0E92D4-4A68-2895-B979-D6C09982D93F}"/>
              </a:ext>
            </a:extLst>
          </p:cNvPr>
          <p:cNvSpPr/>
          <p:nvPr/>
        </p:nvSpPr>
        <p:spPr>
          <a:xfrm>
            <a:off x="502920" y="233172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Concentrate acquisition resources now — before a competitor beats you to it.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A482780F-012F-13C4-6487-A40F7FC0F4FD}"/>
              </a:ext>
            </a:extLst>
          </p:cNvPr>
          <p:cNvSpPr/>
          <p:nvPr/>
        </p:nvSpPr>
        <p:spPr>
          <a:xfrm>
            <a:off x="2560320" y="1143000"/>
            <a:ext cx="2057400" cy="3200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C467559A-7701-1D6B-CCEC-07C46EFA4AED}"/>
              </a:ext>
            </a:extLst>
          </p:cNvPr>
          <p:cNvSpPr/>
          <p:nvPr/>
        </p:nvSpPr>
        <p:spPr>
          <a:xfrm>
            <a:off x="2560320" y="1143000"/>
            <a:ext cx="2057400" cy="960120"/>
          </a:xfrm>
          <a:prstGeom prst="rect">
            <a:avLst/>
          </a:prstGeom>
          <a:solidFill>
            <a:srgbClr val="A5F3FC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3846D476-EB70-1E0A-A301-63A8D9C8F1BD}"/>
              </a:ext>
            </a:extLst>
          </p:cNvPr>
          <p:cNvSpPr/>
          <p:nvPr/>
        </p:nvSpPr>
        <p:spPr>
          <a:xfrm>
            <a:off x="2560320" y="1280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30CC6FBB-9833-5FFD-6008-9C57ED44E8D4}"/>
              </a:ext>
            </a:extLst>
          </p:cNvPr>
          <p:cNvSpPr/>
          <p:nvPr/>
        </p:nvSpPr>
        <p:spPr>
          <a:xfrm>
            <a:off x="2560320" y="16916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50–75th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DFD19604-234B-54D9-D9F7-0244D0F2B9F8}"/>
              </a:ext>
            </a:extLst>
          </p:cNvPr>
          <p:cNvSpPr/>
          <p:nvPr/>
        </p:nvSpPr>
        <p:spPr>
          <a:xfrm>
            <a:off x="2697480" y="233172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the signal, then commit spend with confidence.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E6B29506-4DE3-C9AA-EA9B-54F97D8339A4}"/>
              </a:ext>
            </a:extLst>
          </p:cNvPr>
          <p:cNvSpPr/>
          <p:nvPr/>
        </p:nvSpPr>
        <p:spPr>
          <a:xfrm>
            <a:off x="4754880" y="1143000"/>
            <a:ext cx="2057400" cy="3200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DB8B30EE-4B12-60D4-91A7-1D0E275CFFBC}"/>
              </a:ext>
            </a:extLst>
          </p:cNvPr>
          <p:cNvSpPr/>
          <p:nvPr/>
        </p:nvSpPr>
        <p:spPr>
          <a:xfrm>
            <a:off x="4754880" y="1143000"/>
            <a:ext cx="2057400" cy="960120"/>
          </a:xfrm>
          <a:prstGeom prst="rect">
            <a:avLst/>
          </a:prstGeom>
          <a:solidFill>
            <a:srgbClr val="A7F3D0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96BFD551-325B-6AEE-5A48-F19ACE29B007}"/>
              </a:ext>
            </a:extLst>
          </p:cNvPr>
          <p:cNvSpPr/>
          <p:nvPr/>
        </p:nvSpPr>
        <p:spPr>
          <a:xfrm>
            <a:off x="4754880" y="1280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2EBA8FB9-0FC9-2775-4217-59B21EC3EAC0}"/>
              </a:ext>
            </a:extLst>
          </p:cNvPr>
          <p:cNvSpPr/>
          <p:nvPr/>
        </p:nvSpPr>
        <p:spPr>
          <a:xfrm>
            <a:off x="4754880" y="16916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25–50th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B265DF72-2020-CD39-6D89-50E6B8D8B719}"/>
              </a:ext>
            </a:extLst>
          </p:cNvPr>
          <p:cNvSpPr/>
          <p:nvPr/>
        </p:nvSpPr>
        <p:spPr>
          <a:xfrm>
            <a:off x="4892040" y="233172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existing share. Do not over-allocate.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1C64F1F4-E750-59BB-448B-C399BB940760}"/>
              </a:ext>
            </a:extLst>
          </p:cNvPr>
          <p:cNvSpPr/>
          <p:nvPr/>
        </p:nvSpPr>
        <p:spPr>
          <a:xfrm>
            <a:off x="6949440" y="1143000"/>
            <a:ext cx="2057400" cy="3200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645D81FF-FF8F-6ACA-571C-2E3D72554655}"/>
              </a:ext>
            </a:extLst>
          </p:cNvPr>
          <p:cNvSpPr/>
          <p:nvPr/>
        </p:nvSpPr>
        <p:spPr>
          <a:xfrm>
            <a:off x="6949440" y="1143000"/>
            <a:ext cx="2057400" cy="960120"/>
          </a:xfrm>
          <a:prstGeom prst="rect">
            <a:avLst/>
          </a:prstGeom>
          <a:solidFill>
            <a:srgbClr val="FEF08C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DE76F108-8E00-4A19-5933-6A6336314E9C}"/>
              </a:ext>
            </a:extLst>
          </p:cNvPr>
          <p:cNvSpPr/>
          <p:nvPr/>
        </p:nvSpPr>
        <p:spPr>
          <a:xfrm>
            <a:off x="6949440" y="1280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JUSTIFY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E002DBD8-D501-93DE-E9DF-F9A3096F9C40}"/>
              </a:ext>
            </a:extLst>
          </p:cNvPr>
          <p:cNvSpPr/>
          <p:nvPr/>
        </p:nvSpPr>
        <p:spPr>
          <a:xfrm>
            <a:off x="6949440" y="16916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25%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A0656881-CF7A-45DD-ABC8-7A2081E2A2B8}"/>
              </a:ext>
            </a:extLst>
          </p:cNvPr>
          <p:cNvSpPr/>
          <p:nvPr/>
        </p:nvSpPr>
        <p:spPr>
          <a:xfrm>
            <a:off x="7086600" y="233172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Right-size resources. Redirect capital higher.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68702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3ADC1-50C7-F5CF-4CA4-70BB6A481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The image depicts a circular diagram illustrating key elements of a marketing strategy, including Brand, Reality, BMAP, Retention &amp; ROI, Audience, Deepening, Finder, CRM &amp; Engagement, and Momentum.&#10;&#10;AI-generated content may be incorrect.">
            <a:extLst>
              <a:ext uri="{FF2B5EF4-FFF2-40B4-BE49-F238E27FC236}">
                <a16:creationId xmlns:a16="http://schemas.microsoft.com/office/drawing/2014/main" id="{676C3F70-475D-8C52-9403-9E1CFC8CF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96" b="3"/>
          <a:stretch>
            <a:fillRect/>
          </a:stretch>
        </p:blipFill>
        <p:spPr>
          <a:xfrm>
            <a:off x="4773722" y="1051560"/>
            <a:ext cx="4286250" cy="3291840"/>
          </a:xfrm>
          <a:custGeom>
            <a:avLst/>
            <a:gdLst>
              <a:gd name="connsiteX0" fmla="*/ 0 w 5715000"/>
              <a:gd name="connsiteY0" fmla="*/ 0 h 4389120"/>
              <a:gd name="connsiteX1" fmla="*/ 5715000 w 5715000"/>
              <a:gd name="connsiteY1" fmla="*/ 0 h 4389120"/>
              <a:gd name="connsiteX2" fmla="*/ 5715000 w 5715000"/>
              <a:gd name="connsiteY2" fmla="*/ 4389120 h 4389120"/>
              <a:gd name="connsiteX3" fmla="*/ 0 w 5715000"/>
              <a:gd name="connsiteY3" fmla="*/ 4389120 h 4389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0" h="4389120">
                <a:moveTo>
                  <a:pt x="0" y="0"/>
                </a:moveTo>
                <a:lnTo>
                  <a:pt x="5715000" y="0"/>
                </a:lnTo>
                <a:lnTo>
                  <a:pt x="5715000" y="4389120"/>
                </a:lnTo>
                <a:lnTo>
                  <a:pt x="0" y="4389120"/>
                </a:lnTo>
                <a:close/>
              </a:path>
            </a:pathLst>
          </a:custGeom>
          <a:noFill/>
        </p:spPr>
      </p:pic>
      <p:sp>
        <p:nvSpPr>
          <p:cNvPr id="2" name="Text 3">
            <a:extLst>
              <a:ext uri="{FF2B5EF4-FFF2-40B4-BE49-F238E27FC236}">
                <a16:creationId xmlns:a16="http://schemas.microsoft.com/office/drawing/2014/main" id="{73BB40C8-525A-AE58-C556-5A32CEAAB978}"/>
              </a:ext>
            </a:extLst>
          </p:cNvPr>
          <p:cNvSpPr/>
          <p:nvPr/>
        </p:nvSpPr>
        <p:spPr>
          <a:xfrm>
            <a:off x="45720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50" dirty="0">
                <a:solidFill>
                  <a:srgbClr val="00A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INSIGHT TO COMPOUNDING GROWTH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B254D779-1851-42BC-6C66-D62481AADDF9}"/>
              </a:ext>
            </a:extLst>
          </p:cNvPr>
          <p:cNvSpPr/>
          <p:nvPr/>
        </p:nvSpPr>
        <p:spPr>
          <a:xfrm>
            <a:off x="457200" y="914400"/>
            <a:ext cx="1645920" cy="36576"/>
          </a:xfrm>
          <a:prstGeom prst="rect">
            <a:avLst/>
          </a:prstGeom>
          <a:solidFill>
            <a:srgbClr val="00A3C8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BC1B220B-2782-4F45-6FC5-98445B3F81F1}"/>
              </a:ext>
            </a:extLst>
          </p:cNvPr>
          <p:cNvSpPr/>
          <p:nvPr/>
        </p:nvSpPr>
        <p:spPr>
          <a:xfrm>
            <a:off x="502920" y="1234440"/>
            <a:ext cx="457200" cy="457200"/>
          </a:xfrm>
          <a:prstGeom prst="ellipse">
            <a:avLst/>
          </a:prstGeom>
          <a:solidFill>
            <a:srgbClr val="0D2B4A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82E510F9-9EB7-0CBE-EF12-76007DE6BC53}"/>
              </a:ext>
            </a:extLst>
          </p:cNvPr>
          <p:cNvSpPr/>
          <p:nvPr/>
        </p:nvSpPr>
        <p:spPr>
          <a:xfrm>
            <a:off x="5029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8B1F3DAD-E599-20B2-7FEF-91584D7F3ABD}"/>
              </a:ext>
            </a:extLst>
          </p:cNvPr>
          <p:cNvSpPr/>
          <p:nvPr/>
        </p:nvSpPr>
        <p:spPr>
          <a:xfrm>
            <a:off x="1188720" y="11887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BMAP Snapshot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64FA1AAA-3858-ED2E-00DD-571204F25DB8}"/>
              </a:ext>
            </a:extLst>
          </p:cNvPr>
          <p:cNvSpPr/>
          <p:nvPr/>
        </p:nvSpPr>
        <p:spPr>
          <a:xfrm>
            <a:off x="1188720" y="14904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where capital should go — and where it should not.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10">
            <a:extLst>
              <a:ext uri="{FF2B5EF4-FFF2-40B4-BE49-F238E27FC236}">
                <a16:creationId xmlns:a16="http://schemas.microsoft.com/office/drawing/2014/main" id="{4AACECCF-4796-08D5-8CA3-F4A8366FBF54}"/>
              </a:ext>
            </a:extLst>
          </p:cNvPr>
          <p:cNvSpPr/>
          <p:nvPr/>
        </p:nvSpPr>
        <p:spPr>
          <a:xfrm>
            <a:off x="694944" y="1737360"/>
            <a:ext cx="73152" cy="274320"/>
          </a:xfrm>
          <a:prstGeom prst="rect">
            <a:avLst/>
          </a:prstGeom>
          <a:solidFill>
            <a:srgbClr val="00A3C8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11">
            <a:extLst>
              <a:ext uri="{FF2B5EF4-FFF2-40B4-BE49-F238E27FC236}">
                <a16:creationId xmlns:a16="http://schemas.microsoft.com/office/drawing/2014/main" id="{9B96BCD6-94C7-FED4-2740-4268DEC09AF8}"/>
              </a:ext>
            </a:extLst>
          </p:cNvPr>
          <p:cNvSpPr/>
          <p:nvPr/>
        </p:nvSpPr>
        <p:spPr>
          <a:xfrm>
            <a:off x="502920" y="2057400"/>
            <a:ext cx="457200" cy="457200"/>
          </a:xfrm>
          <a:prstGeom prst="ellipse">
            <a:avLst/>
          </a:prstGeom>
          <a:solidFill>
            <a:srgbClr val="0D2B4A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8D636B86-12CE-A8BD-A856-5F1218048131}"/>
              </a:ext>
            </a:extLst>
          </p:cNvPr>
          <p:cNvSpPr/>
          <p:nvPr/>
        </p:nvSpPr>
        <p:spPr>
          <a:xfrm>
            <a:off x="5029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FF5D4DC7-B75E-60AE-E9CB-1DF40B140060}"/>
              </a:ext>
            </a:extLst>
          </p:cNvPr>
          <p:cNvSpPr/>
          <p:nvPr/>
        </p:nvSpPr>
        <p:spPr>
          <a:xfrm>
            <a:off x="1188720" y="20116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AudienceFinder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CF8158C8-AA58-6A0F-1BE0-110896D5A666}"/>
              </a:ext>
            </a:extLst>
          </p:cNvPr>
          <p:cNvSpPr/>
          <p:nvPr/>
        </p:nvSpPr>
        <p:spPr>
          <a:xfrm>
            <a:off x="1188720" y="2313432"/>
            <a:ext cx="4082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households and businesses most likely to open and fund.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5">
            <a:extLst>
              <a:ext uri="{FF2B5EF4-FFF2-40B4-BE49-F238E27FC236}">
                <a16:creationId xmlns:a16="http://schemas.microsoft.com/office/drawing/2014/main" id="{B233F421-EF66-509B-7039-B1D58960FB16}"/>
              </a:ext>
            </a:extLst>
          </p:cNvPr>
          <p:cNvSpPr/>
          <p:nvPr/>
        </p:nvSpPr>
        <p:spPr>
          <a:xfrm>
            <a:off x="694944" y="2560320"/>
            <a:ext cx="73152" cy="274320"/>
          </a:xfrm>
          <a:prstGeom prst="rect">
            <a:avLst/>
          </a:prstGeom>
          <a:solidFill>
            <a:srgbClr val="00A3C8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6">
            <a:extLst>
              <a:ext uri="{FF2B5EF4-FFF2-40B4-BE49-F238E27FC236}">
                <a16:creationId xmlns:a16="http://schemas.microsoft.com/office/drawing/2014/main" id="{36C8754F-CD66-00CC-2266-D882FD111566}"/>
              </a:ext>
            </a:extLst>
          </p:cNvPr>
          <p:cNvSpPr/>
          <p:nvPr/>
        </p:nvSpPr>
        <p:spPr>
          <a:xfrm>
            <a:off x="502920" y="2880360"/>
            <a:ext cx="457200" cy="457200"/>
          </a:xfrm>
          <a:prstGeom prst="ellipse">
            <a:avLst/>
          </a:prstGeom>
          <a:solidFill>
            <a:srgbClr val="0D2B4A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7">
            <a:extLst>
              <a:ext uri="{FF2B5EF4-FFF2-40B4-BE49-F238E27FC236}">
                <a16:creationId xmlns:a16="http://schemas.microsoft.com/office/drawing/2014/main" id="{B6EA5D61-BD66-5A2F-B4F3-42D93EE50D18}"/>
              </a:ext>
            </a:extLst>
          </p:cNvPr>
          <p:cNvSpPr/>
          <p:nvPr/>
        </p:nvSpPr>
        <p:spPr>
          <a:xfrm>
            <a:off x="50292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76EE8422-0565-43E4-20F3-E35299EE8F2A}"/>
              </a:ext>
            </a:extLst>
          </p:cNvPr>
          <p:cNvSpPr/>
          <p:nvPr/>
        </p:nvSpPr>
        <p:spPr>
          <a:xfrm>
            <a:off x="1188720" y="28346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MediaPredict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19D3A975-17AB-2105-1AC7-436C11D6D6B3}"/>
              </a:ext>
            </a:extLst>
          </p:cNvPr>
          <p:cNvSpPr/>
          <p:nvPr/>
        </p:nvSpPr>
        <p:spPr>
          <a:xfrm>
            <a:off x="1188720" y="3136392"/>
            <a:ext cx="40364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relationships, CAC, and marginal economic contribution before spend.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20">
            <a:extLst>
              <a:ext uri="{FF2B5EF4-FFF2-40B4-BE49-F238E27FC236}">
                <a16:creationId xmlns:a16="http://schemas.microsoft.com/office/drawing/2014/main" id="{11159783-F564-7135-D76C-24A9135C28D5}"/>
              </a:ext>
            </a:extLst>
          </p:cNvPr>
          <p:cNvSpPr/>
          <p:nvPr/>
        </p:nvSpPr>
        <p:spPr>
          <a:xfrm>
            <a:off x="694944" y="3383280"/>
            <a:ext cx="73152" cy="274320"/>
          </a:xfrm>
          <a:prstGeom prst="rect">
            <a:avLst/>
          </a:prstGeom>
          <a:solidFill>
            <a:srgbClr val="00A3C8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21">
            <a:extLst>
              <a:ext uri="{FF2B5EF4-FFF2-40B4-BE49-F238E27FC236}">
                <a16:creationId xmlns:a16="http://schemas.microsoft.com/office/drawing/2014/main" id="{AB01712F-1A67-C055-665C-4F8665DB92C5}"/>
              </a:ext>
            </a:extLst>
          </p:cNvPr>
          <p:cNvSpPr/>
          <p:nvPr/>
        </p:nvSpPr>
        <p:spPr>
          <a:xfrm>
            <a:off x="502920" y="3703320"/>
            <a:ext cx="457200" cy="457200"/>
          </a:xfrm>
          <a:prstGeom prst="ellipse">
            <a:avLst/>
          </a:prstGeom>
          <a:solidFill>
            <a:srgbClr val="0D2B4A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22">
            <a:extLst>
              <a:ext uri="{FF2B5EF4-FFF2-40B4-BE49-F238E27FC236}">
                <a16:creationId xmlns:a16="http://schemas.microsoft.com/office/drawing/2014/main" id="{5E60D61B-1FE8-5795-BEC1-5B7C02F7DE09}"/>
              </a:ext>
            </a:extLst>
          </p:cNvPr>
          <p:cNvSpPr/>
          <p:nvPr/>
        </p:nvSpPr>
        <p:spPr>
          <a:xfrm>
            <a:off x="50292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9C773672-DE91-8D04-478B-0A6147E88ABB}"/>
              </a:ext>
            </a:extLst>
          </p:cNvPr>
          <p:cNvSpPr/>
          <p:nvPr/>
        </p:nvSpPr>
        <p:spPr>
          <a:xfrm>
            <a:off x="1188720" y="3657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&amp; Deepening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4">
            <a:extLst>
              <a:ext uri="{FF2B5EF4-FFF2-40B4-BE49-F238E27FC236}">
                <a16:creationId xmlns:a16="http://schemas.microsoft.com/office/drawing/2014/main" id="{46FDFCFD-705A-203D-BE3F-BEBD47EEC698}"/>
              </a:ext>
            </a:extLst>
          </p:cNvPr>
          <p:cNvSpPr/>
          <p:nvPr/>
        </p:nvSpPr>
        <p:spPr>
          <a:xfrm>
            <a:off x="1188720" y="39593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Convert, onboard, retain, and grow share of wallet.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CF4B27E2-F462-F5F2-D8FE-7E611FFD6A7A}"/>
              </a:ext>
            </a:extLst>
          </p:cNvPr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BMAP is the entry point. The full system turns clarity into results.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83957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BBC39-C920-03A9-9D35-A8FFA77AE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02600F47-CD16-0B11-FB0C-E43FA55B54A8}"/>
              </a:ext>
            </a:extLst>
          </p:cNvPr>
          <p:cNvSpPr/>
          <p:nvPr/>
        </p:nvSpPr>
        <p:spPr>
          <a:xfrm>
            <a:off x="457200" y="274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50" dirty="0">
                <a:solidFill>
                  <a:srgbClr val="00A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OUTCOMES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02EB4EA4-899A-9D3A-D80D-25C7304A7429}"/>
              </a:ext>
            </a:extLst>
          </p:cNvPr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disciplined allocation and a connected system deliver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794D5540-D2CF-3CF2-C8C3-DA9467102366}"/>
              </a:ext>
            </a:extLst>
          </p:cNvPr>
          <p:cNvSpPr/>
          <p:nvPr/>
        </p:nvSpPr>
        <p:spPr>
          <a:xfrm>
            <a:off x="457200" y="914400"/>
            <a:ext cx="1645920" cy="36576"/>
          </a:xfrm>
          <a:prstGeom prst="rect">
            <a:avLst/>
          </a:prstGeom>
          <a:solidFill>
            <a:srgbClr val="00A3C8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0A3728E5-D006-1AE7-38FA-E75B20C54F48}"/>
              </a:ext>
            </a:extLst>
          </p:cNvPr>
          <p:cNvSpPr/>
          <p:nvPr/>
        </p:nvSpPr>
        <p:spPr>
          <a:xfrm>
            <a:off x="365760" y="114300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/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E1CDB0F1-F469-CAB0-EBDD-EFC27B01C29A}"/>
              </a:ext>
            </a:extLst>
          </p:cNvPr>
          <p:cNvSpPr/>
          <p:nvPr/>
        </p:nvSpPr>
        <p:spPr>
          <a:xfrm>
            <a:off x="365760" y="1325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00A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$630MM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46E2C898-1C63-4129-9339-C1FA82FD3B13}"/>
              </a:ext>
            </a:extLst>
          </p:cNvPr>
          <p:cNvSpPr/>
          <p:nvPr/>
        </p:nvSpPr>
        <p:spPr>
          <a:xfrm>
            <a:off x="457200" y="20116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0D2B4A"/>
                </a:solidFill>
                <a:latin typeface="Arial" pitchFamily="34" charset="0"/>
                <a:cs typeface="Arial" pitchFamily="34" charset="-120"/>
              </a:rPr>
              <a:t>18 Month Deposit Production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7562DFE8-DD9A-D851-21B9-8C54380C0C87}"/>
              </a:ext>
            </a:extLst>
          </p:cNvPr>
          <p:cNvSpPr/>
          <p:nvPr/>
        </p:nvSpPr>
        <p:spPr>
          <a:xfrm>
            <a:off x="457200" y="25146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relationships, new money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8ACB99BA-ED14-FA1E-34F8-46184521E7AE}"/>
              </a:ext>
            </a:extLst>
          </p:cNvPr>
          <p:cNvSpPr/>
          <p:nvPr/>
        </p:nvSpPr>
        <p:spPr>
          <a:xfrm>
            <a:off x="2560320" y="114300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/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9FB6E658-AF97-786F-CAF7-E2DCB3E001E4}"/>
              </a:ext>
            </a:extLst>
          </p:cNvPr>
          <p:cNvSpPr/>
          <p:nvPr/>
        </p:nvSpPr>
        <p:spPr>
          <a:xfrm>
            <a:off x="2560320" y="1325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00A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77%+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D324816B-04ED-6A42-14D9-2E51301103A8}"/>
              </a:ext>
            </a:extLst>
          </p:cNvPr>
          <p:cNvSpPr/>
          <p:nvPr/>
        </p:nvSpPr>
        <p:spPr>
          <a:xfrm>
            <a:off x="2651760" y="20116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987BA3D2-ED1D-ACCA-CBA1-00B5323CDE90}"/>
              </a:ext>
            </a:extLst>
          </p:cNvPr>
          <p:cNvSpPr/>
          <p:nvPr/>
        </p:nvSpPr>
        <p:spPr>
          <a:xfrm>
            <a:off x="2651760" y="25146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customer nurturing &amp; retention strategies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462A972B-008D-AE02-1C4B-6301A59AA8EB}"/>
              </a:ext>
            </a:extLst>
          </p:cNvPr>
          <p:cNvSpPr/>
          <p:nvPr/>
        </p:nvSpPr>
        <p:spPr>
          <a:xfrm>
            <a:off x="4754880" y="114300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/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1809BAC3-75C3-8AF8-FDBB-A62EC32CF66A}"/>
              </a:ext>
            </a:extLst>
          </p:cNvPr>
          <p:cNvSpPr/>
          <p:nvPr/>
        </p:nvSpPr>
        <p:spPr>
          <a:xfrm>
            <a:off x="4754880" y="1325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00A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300%+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B1C4A3C7-BEA6-DDD7-C30B-09828AB3C2D8}"/>
              </a:ext>
            </a:extLst>
          </p:cNvPr>
          <p:cNvSpPr/>
          <p:nvPr/>
        </p:nvSpPr>
        <p:spPr>
          <a:xfrm>
            <a:off x="4846320" y="20116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Deposits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A536ABE9-7D6D-891E-7A6E-62E1E6B727B4}"/>
              </a:ext>
            </a:extLst>
          </p:cNvPr>
          <p:cNvSpPr/>
          <p:nvPr/>
        </p:nvSpPr>
        <p:spPr>
          <a:xfrm>
            <a:off x="4846320" y="25146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Exceeded client goals at lowest budget tier  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5A09ED4D-25F2-94A2-6AD2-05390B0BB29C}"/>
              </a:ext>
            </a:extLst>
          </p:cNvPr>
          <p:cNvSpPr/>
          <p:nvPr/>
        </p:nvSpPr>
        <p:spPr>
          <a:xfrm>
            <a:off x="6949440" y="114300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/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7F76FEC1-8F22-3D70-3AA7-71B002C8D70A}"/>
              </a:ext>
            </a:extLst>
          </p:cNvPr>
          <p:cNvSpPr/>
          <p:nvPr/>
        </p:nvSpPr>
        <p:spPr>
          <a:xfrm>
            <a:off x="6949440" y="1325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00A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70+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F38EC39E-3935-9A39-0829-75CFB0AD2B9F}"/>
              </a:ext>
            </a:extLst>
          </p:cNvPr>
          <p:cNvSpPr/>
          <p:nvPr/>
        </p:nvSpPr>
        <p:spPr>
          <a:xfrm>
            <a:off x="7040880" y="20116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Institutions Served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9E0729B6-F41D-F829-B8AE-620748B32BBD}"/>
              </a:ext>
            </a:extLst>
          </p:cNvPr>
          <p:cNvSpPr/>
          <p:nvPr/>
        </p:nvSpPr>
        <p:spPr>
          <a:xfrm>
            <a:off x="7040880" y="25146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 years FI experience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5BE44D33-3365-88C6-B9EF-F6F47ADEFFF4}"/>
              </a:ext>
            </a:extLst>
          </p:cNvPr>
          <p:cNvSpPr/>
          <p:nvPr/>
        </p:nvSpPr>
        <p:spPr>
          <a:xfrm>
            <a:off x="365760" y="3383280"/>
            <a:ext cx="8412480" cy="1097280"/>
          </a:xfrm>
          <a:prstGeom prst="roundRect">
            <a:avLst>
              <a:gd name="adj" fmla="val 6667"/>
            </a:avLst>
          </a:prstGeom>
          <a:solidFill>
            <a:srgbClr val="0D2B4A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4D3F255C-D610-A52B-5998-77A774917C86}"/>
              </a:ext>
            </a:extLst>
          </p:cNvPr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more marketing. Not less. Clarity.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CEFE54F6-0513-0212-5EB2-BD4D42F2BB07}"/>
              </a:ext>
            </a:extLst>
          </p:cNvPr>
          <p:cNvSpPr/>
          <p:nvPr/>
        </p:nvSpPr>
        <p:spPr>
          <a:xfrm>
            <a:off x="640080" y="4023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A5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data at the core, leadership can see which investments move the institution toward its strategic goals.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49645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23844-A7CF-C040-79FB-911CAD291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3">
            <a:extLst>
              <a:ext uri="{FF2B5EF4-FFF2-40B4-BE49-F238E27FC236}">
                <a16:creationId xmlns:a16="http://schemas.microsoft.com/office/drawing/2014/main" id="{6EDA0431-4E09-4A13-7841-A9C0D10E209F}"/>
              </a:ext>
            </a:extLst>
          </p:cNvPr>
          <p:cNvSpPr/>
          <p:nvPr/>
        </p:nvSpPr>
        <p:spPr>
          <a:xfrm>
            <a:off x="457200" y="274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50" dirty="0">
                <a:solidFill>
                  <a:srgbClr val="00A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NEXT STEP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C0C46D2E-7DAD-6558-3C43-8001025448AB}"/>
              </a:ext>
            </a:extLst>
          </p:cNvPr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clarity. Then activate the full system.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0DF30AE9-254A-BE68-96D8-E08AAA4043E0}"/>
              </a:ext>
            </a:extLst>
          </p:cNvPr>
          <p:cNvSpPr/>
          <p:nvPr/>
        </p:nvSpPr>
        <p:spPr>
          <a:xfrm>
            <a:off x="457200" y="960120"/>
            <a:ext cx="1645920" cy="36576"/>
          </a:xfrm>
          <a:prstGeom prst="rect">
            <a:avLst/>
          </a:prstGeom>
          <a:solidFill>
            <a:srgbClr val="00A3C8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7C2E00F0-4A46-C358-74F9-DC647AC7AE8F}"/>
              </a:ext>
            </a:extLst>
          </p:cNvPr>
          <p:cNvSpPr/>
          <p:nvPr/>
        </p:nvSpPr>
        <p:spPr>
          <a:xfrm>
            <a:off x="411480" y="128016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BEF1DC1C-3D4C-0F83-A843-9AAAC6453898}"/>
              </a:ext>
            </a:extLst>
          </p:cNvPr>
          <p:cNvSpPr/>
          <p:nvPr/>
        </p:nvSpPr>
        <p:spPr>
          <a:xfrm>
            <a:off x="1508760" y="1554480"/>
            <a:ext cx="502920" cy="502920"/>
          </a:xfrm>
          <a:prstGeom prst="ellipse">
            <a:avLst/>
          </a:prstGeom>
          <a:solidFill>
            <a:srgbClr val="00A3C8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5C9BBF28-97AA-CF43-EB53-4EEA0425EB73}"/>
              </a:ext>
            </a:extLst>
          </p:cNvPr>
          <p:cNvSpPr/>
          <p:nvPr/>
        </p:nvSpPr>
        <p:spPr>
          <a:xfrm>
            <a:off x="150876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907E1319-559B-D20B-948C-DF414E1A9EBF}"/>
              </a:ext>
            </a:extLst>
          </p:cNvPr>
          <p:cNvSpPr/>
          <p:nvPr/>
        </p:nvSpPr>
        <p:spPr>
          <a:xfrm>
            <a:off x="59436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BMAP Snapshot</a:t>
            </a: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984AB55E-7D2B-365A-DCDF-473A388CAF21}"/>
              </a:ext>
            </a:extLst>
          </p:cNvPr>
          <p:cNvSpPr/>
          <p:nvPr/>
        </p:nvSpPr>
        <p:spPr>
          <a:xfrm>
            <a:off x="640080" y="28346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Complimentary branch-level scoring &amp; zone map for qualifying institutions. </a:t>
            </a:r>
          </a:p>
          <a:p>
            <a:pPr algn="ctr"/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value $12,000.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651BD278-FA84-5468-D18C-41FE9229D16F}"/>
              </a:ext>
            </a:extLst>
          </p:cNvPr>
          <p:cNvSpPr/>
          <p:nvPr/>
        </p:nvSpPr>
        <p:spPr>
          <a:xfrm>
            <a:off x="3291840" y="128016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A83E83C3-491E-E58F-1F1C-272DD3A148CE}"/>
              </a:ext>
            </a:extLst>
          </p:cNvPr>
          <p:cNvSpPr/>
          <p:nvPr/>
        </p:nvSpPr>
        <p:spPr>
          <a:xfrm>
            <a:off x="4389120" y="1554480"/>
            <a:ext cx="502920" cy="502920"/>
          </a:xfrm>
          <a:prstGeom prst="ellipse">
            <a:avLst/>
          </a:prstGeom>
          <a:solidFill>
            <a:srgbClr val="00A3C8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8C4E4CA9-2C6A-1395-4CD3-2FFBB207F3AC}"/>
              </a:ext>
            </a:extLst>
          </p:cNvPr>
          <p:cNvSpPr/>
          <p:nvPr/>
        </p:nvSpPr>
        <p:spPr>
          <a:xfrm>
            <a:off x="43891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DD8A601A-2C8B-D7F7-B5C4-12BAF2AACC88}"/>
              </a:ext>
            </a:extLst>
          </p:cNvPr>
          <p:cNvSpPr/>
          <p:nvPr/>
        </p:nvSpPr>
        <p:spPr>
          <a:xfrm>
            <a:off x="347472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Lab</a:t>
            </a: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89BD8124-D45D-7F31-DA94-EC95613FDCCD}"/>
              </a:ext>
            </a:extLst>
          </p:cNvPr>
          <p:cNvSpPr/>
          <p:nvPr/>
        </p:nvSpPr>
        <p:spPr>
          <a:xfrm>
            <a:off x="3520440" y="28346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assessment across all six components — the natural next step after your Snapshot.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6A6E1A25-1EEC-18A5-7808-0EAB369DAC02}"/>
              </a:ext>
            </a:extLst>
          </p:cNvPr>
          <p:cNvSpPr/>
          <p:nvPr/>
        </p:nvSpPr>
        <p:spPr>
          <a:xfrm>
            <a:off x="6172200" y="128016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3178B440-1D7B-0E01-56EC-ED7218B71D05}"/>
              </a:ext>
            </a:extLst>
          </p:cNvPr>
          <p:cNvSpPr/>
          <p:nvPr/>
        </p:nvSpPr>
        <p:spPr>
          <a:xfrm>
            <a:off x="7269480" y="1554480"/>
            <a:ext cx="502920" cy="502920"/>
          </a:xfrm>
          <a:prstGeom prst="ellipse">
            <a:avLst/>
          </a:prstGeom>
          <a:solidFill>
            <a:srgbClr val="00A3C8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4D7F2CE4-302E-7313-0E16-5C79BE860C68}"/>
              </a:ext>
            </a:extLst>
          </p:cNvPr>
          <p:cNvSpPr/>
          <p:nvPr/>
        </p:nvSpPr>
        <p:spPr>
          <a:xfrm>
            <a:off x="72694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7E18E527-4078-3F65-460E-CFFD914C86C5}"/>
              </a:ext>
            </a:extLst>
          </p:cNvPr>
          <p:cNvSpPr/>
          <p:nvPr/>
        </p:nvSpPr>
        <p:spPr>
          <a:xfrm>
            <a:off x="635508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System Activation</a:t>
            </a: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25470DAA-0D2D-CE95-4ACC-A400A760E2F8}"/>
              </a:ext>
            </a:extLst>
          </p:cNvPr>
          <p:cNvSpPr/>
          <p:nvPr/>
        </p:nvSpPr>
        <p:spPr>
          <a:xfrm>
            <a:off x="6400800" y="28346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→ Activation → Momentum. Predictable, profitable deposit growth at scale.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61528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CDD09-4198-19C4-63A5-1697C7C08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01BB5-58D4-6077-F3CB-53AB67FB5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452966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4EDD2-BE18-9616-0CF7-354ED7B3A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>
            <a:extLst>
              <a:ext uri="{FF2B5EF4-FFF2-40B4-BE49-F238E27FC236}">
                <a16:creationId xmlns:a16="http://schemas.microsoft.com/office/drawing/2014/main" id="{345CA999-14F0-4485-BB7F-58C4A704832E}"/>
              </a:ext>
            </a:extLst>
          </p:cNvPr>
          <p:cNvSpPr/>
          <p:nvPr/>
        </p:nvSpPr>
        <p:spPr>
          <a:xfrm>
            <a:off x="365760" y="3855717"/>
            <a:ext cx="8321040" cy="581297"/>
          </a:xfrm>
          <a:prstGeom prst="roundRect">
            <a:avLst>
              <a:gd name="adj" fmla="val 6667"/>
            </a:avLst>
          </a:prstGeom>
          <a:solidFill>
            <a:srgbClr val="0D2B4A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CE03632D-0BBD-4416-11C9-D58C4BB7DC7D}"/>
              </a:ext>
            </a:extLst>
          </p:cNvPr>
          <p:cNvSpPr/>
          <p:nvPr/>
        </p:nvSpPr>
        <p:spPr>
          <a:xfrm>
            <a:off x="457200" y="274320"/>
            <a:ext cx="676220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50" dirty="0">
                <a:solidFill>
                  <a:srgbClr val="00A3C8"/>
                </a:solidFill>
                <a:latin typeface="Arial" pitchFamily="34" charset="0"/>
                <a:cs typeface="Arial" pitchFamily="34" charset="-120"/>
              </a:rPr>
              <a:t>OMNI BRANCH | OUR DIGITAL FIRST DEPOSIT GROWTH ENGINE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55537597-C663-EE5A-5C9C-37EEDCE42ED7}"/>
              </a:ext>
            </a:extLst>
          </p:cNvPr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Omni Branch? 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98B9BF58-3FBB-FB02-845E-1257E2B9A37A}"/>
              </a:ext>
            </a:extLst>
          </p:cNvPr>
          <p:cNvSpPr/>
          <p:nvPr/>
        </p:nvSpPr>
        <p:spPr>
          <a:xfrm>
            <a:off x="457200" y="960120"/>
            <a:ext cx="1645920" cy="36576"/>
          </a:xfrm>
          <a:prstGeom prst="rect">
            <a:avLst/>
          </a:prstGeom>
          <a:solidFill>
            <a:srgbClr val="00A3C8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090B432-B632-4EA4-AA79-A757CF416FD3}"/>
              </a:ext>
            </a:extLst>
          </p:cNvPr>
          <p:cNvSpPr txBox="1">
            <a:spLocks/>
          </p:cNvSpPr>
          <p:nvPr/>
        </p:nvSpPr>
        <p:spPr>
          <a:xfrm>
            <a:off x="366138" y="1088136"/>
            <a:ext cx="8320662" cy="4616823"/>
          </a:xfrm>
          <a:prstGeom prst="rect">
            <a:avLst/>
          </a:prstGeom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Omni Branch is our proven digital-forward bank growth engine that cost-effectively acquires, nurtures, retains, and grows new retail customers and deposits at scale.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     Omni Branch seamlessly blends:</a:t>
            </a:r>
          </a:p>
          <a:p>
            <a:pPr lvl="1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Competitive rates with polished digital experiences</a:t>
            </a:r>
          </a:p>
          <a:p>
            <a:pPr lvl="1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Precision hyperlocal performance marketing media strategy and execution</a:t>
            </a:r>
          </a:p>
          <a:p>
            <a:pPr lvl="1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Streamlined, trustworthy omnichannel digital account opening and funding</a:t>
            </a:r>
          </a:p>
          <a:p>
            <a:pPr lvl="1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Data-driven funnel optimization and continuous testing</a:t>
            </a:r>
          </a:p>
          <a:p>
            <a:pPr lvl="1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Branch and banker activation playbooks to nurture and expand relationships</a:t>
            </a:r>
          </a:p>
          <a:p>
            <a:pPr lvl="1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Targeted nurturing strategies that build primacy and drive long-term retention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Omni Branch Goal: 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Acquire digitally native customers who want modern, self-service online banking — while delivering the trusted, high-touch service and FDIC-insured security of a traditional bank.</a:t>
            </a:r>
          </a:p>
        </p:txBody>
      </p:sp>
    </p:spTree>
    <p:extLst>
      <p:ext uri="{BB962C8B-B14F-4D97-AF65-F5344CB8AC3E}">
        <p14:creationId xmlns:p14="http://schemas.microsoft.com/office/powerpoint/2010/main" val="3392347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64410-DB95-5080-0A19-15B0B5843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4">
            <a:extLst>
              <a:ext uri="{FF2B5EF4-FFF2-40B4-BE49-F238E27FC236}">
                <a16:creationId xmlns:a16="http://schemas.microsoft.com/office/drawing/2014/main" id="{B7C4B06B-6C6E-C044-30CF-30395D2225C6}"/>
              </a:ext>
            </a:extLst>
          </p:cNvPr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D2B4A"/>
                </a:solidFill>
                <a:latin typeface="Arial" pitchFamily="34" charset="0"/>
                <a:cs typeface="Arial" pitchFamily="34" charset="-120"/>
              </a:rPr>
              <a:t>Acquisition Model Comparison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A7CBCAD3-8076-7E50-1381-4E106B7F986C}"/>
              </a:ext>
            </a:extLst>
          </p:cNvPr>
          <p:cNvSpPr/>
          <p:nvPr/>
        </p:nvSpPr>
        <p:spPr>
          <a:xfrm>
            <a:off x="457200" y="960120"/>
            <a:ext cx="1645920" cy="36576"/>
          </a:xfrm>
          <a:prstGeom prst="rect">
            <a:avLst/>
          </a:prstGeom>
          <a:solidFill>
            <a:srgbClr val="00A3C8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BCF35FA-3ECC-97CE-0B42-515C7222A514}"/>
              </a:ext>
            </a:extLst>
          </p:cNvPr>
          <p:cNvSpPr txBox="1">
            <a:spLocks/>
          </p:cNvSpPr>
          <p:nvPr/>
        </p:nvSpPr>
        <p:spPr>
          <a:xfrm>
            <a:off x="366138" y="1088136"/>
            <a:ext cx="8320662" cy="4616823"/>
          </a:xfrm>
          <a:prstGeom prst="rect">
            <a:avLst/>
          </a:prstGeom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b="1" dirty="0"/>
              <a:t>Shifting from high-cost checking bonuses to high-value savings acquisition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9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/>
              <a:t>      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5F3FFB9-1AAE-39A0-4952-F2CD9D3440A6}"/>
              </a:ext>
            </a:extLst>
          </p:cNvPr>
          <p:cNvSpPr/>
          <p:nvPr/>
        </p:nvSpPr>
        <p:spPr>
          <a:xfrm>
            <a:off x="744001" y="1587142"/>
            <a:ext cx="7564936" cy="2847535"/>
          </a:xfrm>
          <a:prstGeom prst="rect">
            <a:avLst/>
          </a:prstGeom>
          <a:solidFill>
            <a:srgbClr val="0E2841">
              <a:lumMod val="10000"/>
              <a:lumOff val="90000"/>
            </a:srgbClr>
          </a:solidFill>
          <a:ln w="31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2185F0D-DA3E-8653-AEB5-5BE17D9F1414}"/>
              </a:ext>
            </a:extLst>
          </p:cNvPr>
          <p:cNvSpPr/>
          <p:nvPr/>
        </p:nvSpPr>
        <p:spPr>
          <a:xfrm>
            <a:off x="1103545" y="1925185"/>
            <a:ext cx="3211712" cy="1374563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90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D428739-C177-BA6B-E0D6-624E35B6E14F}"/>
              </a:ext>
            </a:extLst>
          </p:cNvPr>
          <p:cNvSpPr/>
          <p:nvPr/>
        </p:nvSpPr>
        <p:spPr>
          <a:xfrm>
            <a:off x="4674801" y="1936210"/>
            <a:ext cx="3211712" cy="1374563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90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4128DC4-AB70-3275-777F-323C64603129}"/>
              </a:ext>
            </a:extLst>
          </p:cNvPr>
          <p:cNvSpPr txBox="1"/>
          <p:nvPr/>
        </p:nvSpPr>
        <p:spPr>
          <a:xfrm>
            <a:off x="1103545" y="1930991"/>
            <a:ext cx="2145978" cy="264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ptos" panose="02110004020202020204"/>
              </a:rPr>
              <a:t>Savings-First</a:t>
            </a:r>
            <a:r>
              <a:rPr lang="en-US" sz="1600" b="1" dirty="0">
                <a:solidFill>
                  <a:prstClr val="black"/>
                </a:solidFill>
                <a:latin typeface="Aptos" panose="02110004020202020204"/>
              </a:rPr>
              <a:t>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6B297A8-900F-679E-F253-671DED68AB89}"/>
              </a:ext>
            </a:extLst>
          </p:cNvPr>
          <p:cNvSpPr txBox="1"/>
          <p:nvPr/>
        </p:nvSpPr>
        <p:spPr>
          <a:xfrm>
            <a:off x="4674801" y="1936210"/>
            <a:ext cx="2145978" cy="264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ptos" panose="02110004020202020204"/>
              </a:rPr>
              <a:t>Checking-First</a:t>
            </a:r>
            <a:r>
              <a:rPr lang="en-US" sz="1600" dirty="0">
                <a:solidFill>
                  <a:prstClr val="black"/>
                </a:solidFill>
                <a:latin typeface="Aptos" panose="02110004020202020204"/>
              </a:rPr>
              <a:t> 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400133C-30D2-1466-5995-C0484151DE3A}"/>
              </a:ext>
            </a:extLst>
          </p:cNvPr>
          <p:cNvSpPr/>
          <p:nvPr/>
        </p:nvSpPr>
        <p:spPr>
          <a:xfrm>
            <a:off x="6759512" y="1981668"/>
            <a:ext cx="1012528" cy="176875"/>
          </a:xfrm>
          <a:prstGeom prst="roundRect">
            <a:avLst>
              <a:gd name="adj" fmla="val 50000"/>
            </a:avLst>
          </a:prstGeom>
          <a:solidFill>
            <a:srgbClr val="0E2841">
              <a:lumMod val="25000"/>
              <a:lumOff val="7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Bonus Chasers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E9C04CA-F231-2344-C565-FA35EEA06201}"/>
              </a:ext>
            </a:extLst>
          </p:cNvPr>
          <p:cNvSpPr/>
          <p:nvPr/>
        </p:nvSpPr>
        <p:spPr>
          <a:xfrm>
            <a:off x="3205990" y="1981668"/>
            <a:ext cx="1012528" cy="176875"/>
          </a:xfrm>
          <a:prstGeom prst="roundRect">
            <a:avLst>
              <a:gd name="adj" fmla="val 50000"/>
            </a:avLst>
          </a:prstGeom>
          <a:solidFill>
            <a:srgbClr val="0E2841">
              <a:lumMod val="25000"/>
              <a:lumOff val="7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Savvy Savers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D4C824-7E7D-6FEF-DF48-5CD40FB2307C}"/>
              </a:ext>
            </a:extLst>
          </p:cNvPr>
          <p:cNvSpPr txBox="1"/>
          <p:nvPr/>
        </p:nvSpPr>
        <p:spPr>
          <a:xfrm>
            <a:off x="1211569" y="2353364"/>
            <a:ext cx="19944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prstClr val="black"/>
                </a:solidFill>
                <a:latin typeface="Aptos" panose="02110004020202020204"/>
              </a:rPr>
              <a:t>$75,000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714D483-C04B-26D1-6400-549A94C93562}"/>
              </a:ext>
            </a:extLst>
          </p:cNvPr>
          <p:cNvSpPr txBox="1"/>
          <p:nvPr/>
        </p:nvSpPr>
        <p:spPr>
          <a:xfrm>
            <a:off x="4750580" y="2336814"/>
            <a:ext cx="19944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prstClr val="black"/>
                </a:solidFill>
                <a:latin typeface="Aptos" panose="02110004020202020204"/>
              </a:rPr>
              <a:t>$10,000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AC7B58A-4F65-6A38-DF79-A32C31C3DB54}"/>
              </a:ext>
            </a:extLst>
          </p:cNvPr>
          <p:cNvSpPr txBox="1"/>
          <p:nvPr/>
        </p:nvSpPr>
        <p:spPr>
          <a:xfrm>
            <a:off x="4750580" y="2998327"/>
            <a:ext cx="2768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Aptos" panose="02110004020202020204"/>
              </a:rPr>
              <a:t>Average balance | &lt;35% Retention 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6332FB6-C0BF-EFD7-4847-1AAEF079702F}"/>
              </a:ext>
            </a:extLst>
          </p:cNvPr>
          <p:cNvSpPr txBox="1"/>
          <p:nvPr/>
        </p:nvSpPr>
        <p:spPr>
          <a:xfrm>
            <a:off x="1211569" y="3002056"/>
            <a:ext cx="2768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Aptos" panose="02110004020202020204"/>
              </a:rPr>
              <a:t>Average balance | &gt;75% Retention 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210077A-447E-FF5C-C30E-15A49EA65BC9}"/>
              </a:ext>
            </a:extLst>
          </p:cNvPr>
          <p:cNvSpPr txBox="1"/>
          <p:nvPr/>
        </p:nvSpPr>
        <p:spPr>
          <a:xfrm>
            <a:off x="1103545" y="3649763"/>
            <a:ext cx="67829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en-US" sz="1400" b="1" dirty="0">
                <a:solidFill>
                  <a:prstClr val="black"/>
                </a:solidFill>
                <a:latin typeface="Aptos" panose="02110004020202020204"/>
              </a:rPr>
              <a:t>Savings-first customers deliver significantly higher deposit value </a:t>
            </a:r>
          </a:p>
          <a:p>
            <a:pPr algn="ctr"/>
            <a:r>
              <a:rPr lang="en-US" sz="1400" b="1" dirty="0">
                <a:solidFill>
                  <a:prstClr val="black"/>
                </a:solidFill>
                <a:latin typeface="Aptos" panose="02110004020202020204"/>
              </a:rPr>
              <a:t>per acquisition and retain at higher rates than checking bonus customers</a:t>
            </a:r>
          </a:p>
        </p:txBody>
      </p:sp>
      <p:pic>
        <p:nvPicPr>
          <p:cNvPr id="47" name="Content Placeholder 19" descr="Bank check outline">
            <a:extLst>
              <a:ext uri="{FF2B5EF4-FFF2-40B4-BE49-F238E27FC236}">
                <a16:creationId xmlns:a16="http://schemas.microsoft.com/office/drawing/2014/main" id="{70847054-F965-C7A6-9FEB-25083AD5E7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36866" y="2314824"/>
            <a:ext cx="657821" cy="655166"/>
          </a:xfrm>
          <a:prstGeom prst="rect">
            <a:avLst/>
          </a:prstGeom>
        </p:spPr>
      </p:pic>
      <p:pic>
        <p:nvPicPr>
          <p:cNvPr id="48" name="Graphic 47" descr="Mortgage outline">
            <a:extLst>
              <a:ext uri="{FF2B5EF4-FFF2-40B4-BE49-F238E27FC236}">
                <a16:creationId xmlns:a16="http://schemas.microsoft.com/office/drawing/2014/main" id="{C543AD73-99F5-80F0-DE89-88E1F17699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7856" y="2252717"/>
            <a:ext cx="657821" cy="655166"/>
          </a:xfrm>
          <a:prstGeom prst="rect">
            <a:avLst/>
          </a:prstGeom>
        </p:spPr>
      </p:pic>
      <p:sp>
        <p:nvSpPr>
          <p:cNvPr id="51" name="Text 3">
            <a:extLst>
              <a:ext uri="{FF2B5EF4-FFF2-40B4-BE49-F238E27FC236}">
                <a16:creationId xmlns:a16="http://schemas.microsoft.com/office/drawing/2014/main" id="{2DACC480-8317-3CAC-238A-D90ED7B4CCB5}"/>
              </a:ext>
            </a:extLst>
          </p:cNvPr>
          <p:cNvSpPr/>
          <p:nvPr/>
        </p:nvSpPr>
        <p:spPr>
          <a:xfrm>
            <a:off x="457200" y="274320"/>
            <a:ext cx="676220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50" dirty="0">
                <a:solidFill>
                  <a:srgbClr val="00A3C8"/>
                </a:solidFill>
                <a:latin typeface="Arial" pitchFamily="34" charset="0"/>
                <a:cs typeface="Arial" pitchFamily="34" charset="-120"/>
              </a:rPr>
              <a:t>OMNI BRANCH | OUR DIGITAL FIRST DEPOSIT GROWTH ENGINE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21585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4BB0B-37D6-7E79-E70A-36EDA7802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4">
            <a:extLst>
              <a:ext uri="{FF2B5EF4-FFF2-40B4-BE49-F238E27FC236}">
                <a16:creationId xmlns:a16="http://schemas.microsoft.com/office/drawing/2014/main" id="{23A4E6DB-6C74-1508-8BF9-8F18A3B0BE2B}"/>
              </a:ext>
            </a:extLst>
          </p:cNvPr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D2B4A"/>
                </a:solidFill>
                <a:latin typeface="Arial" pitchFamily="34" charset="0"/>
                <a:cs typeface="Arial" pitchFamily="34" charset="-120"/>
              </a:rPr>
              <a:t>Savings vs Checking Model Comparison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2F83F600-3AF3-58E3-3B46-40BADACD43D3}"/>
              </a:ext>
            </a:extLst>
          </p:cNvPr>
          <p:cNvSpPr/>
          <p:nvPr/>
        </p:nvSpPr>
        <p:spPr>
          <a:xfrm>
            <a:off x="457200" y="960120"/>
            <a:ext cx="1645920" cy="36576"/>
          </a:xfrm>
          <a:prstGeom prst="rect">
            <a:avLst/>
          </a:prstGeom>
          <a:solidFill>
            <a:srgbClr val="00A3C8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1EC78AF-CFB7-BD23-D4C4-75BFA0FD4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820231"/>
              </p:ext>
            </p:extLst>
          </p:nvPr>
        </p:nvGraphicFramePr>
        <p:xfrm>
          <a:off x="457200" y="1088136"/>
          <a:ext cx="8229600" cy="3229202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1196574098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04612194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939894268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879567810"/>
                    </a:ext>
                  </a:extLst>
                </a:gridCol>
              </a:tblGrid>
              <a:tr h="36516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Metric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Checking Bonus Model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Savings-First (Digital Branch)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Advantage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852783"/>
                  </a:ext>
                </a:extLst>
              </a:tr>
              <a:tr h="36516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0" dirty="0"/>
                        <a:t>Customer Acquisition Cost (CAC)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>
                        <a:buNone/>
                      </a:pPr>
                      <a:r>
                        <a:rPr lang="en-US" sz="1200" dirty="0"/>
                        <a:t>$900 – $1,800+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>
                        <a:buNone/>
                      </a:pPr>
                      <a:r>
                        <a:rPr lang="en-US" sz="1200" b="1" dirty="0"/>
                        <a:t>$502</a:t>
                      </a:r>
                      <a:endParaRPr lang="en-US" sz="1200" dirty="0"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>
                        <a:buNone/>
                      </a:pPr>
                      <a:r>
                        <a:rPr lang="en-US" sz="1200"/>
                        <a:t>45–70% lower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6370327"/>
                  </a:ext>
                </a:extLst>
              </a:tr>
              <a:tr h="36516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0"/>
                        <a:t>Avg. Initial Balance per New Account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>
                        <a:buNone/>
                      </a:pPr>
                      <a:r>
                        <a:rPr lang="en-US" sz="1200" dirty="0"/>
                        <a:t>$10k – $30k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>
                        <a:buNone/>
                      </a:pPr>
                      <a:r>
                        <a:rPr lang="en-US" sz="1200" b="1" dirty="0"/>
                        <a:t>$75k+</a:t>
                      </a:r>
                      <a:endParaRPr lang="en-US" sz="1200" dirty="0"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>
                        <a:buNone/>
                      </a:pPr>
                      <a:r>
                        <a:rPr lang="en-US" sz="1200" b="1"/>
                        <a:t>2.5–7.5x higher</a:t>
                      </a:r>
                      <a:endParaRPr lang="en-US" sz="1200"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8855880"/>
                  </a:ext>
                </a:extLst>
              </a:tr>
              <a:tr h="208842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0"/>
                        <a:t>12-Month Retention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>
                        <a:buNone/>
                      </a:pPr>
                      <a:r>
                        <a:rPr lang="en-US" sz="1200" dirty="0"/>
                        <a:t>35–55%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>
                        <a:buNone/>
                      </a:pPr>
                      <a:r>
                        <a:rPr lang="en-US" sz="1200" b="1" dirty="0"/>
                        <a:t>&gt;77%</a:t>
                      </a:r>
                      <a:endParaRPr lang="en-US" sz="1200" dirty="0"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>
                        <a:buNone/>
                      </a:pPr>
                      <a:r>
                        <a:rPr lang="en-US" sz="1200" dirty="0"/>
                        <a:t>Much higher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645012"/>
                  </a:ext>
                </a:extLst>
              </a:tr>
              <a:tr h="36516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0"/>
                        <a:t>Effective CAC per $1,000 Retained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>
                        <a:buNone/>
                      </a:pPr>
                      <a:r>
                        <a:rPr lang="en-US" sz="1200" dirty="0"/>
                        <a:t>$60 – $225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>
                        <a:buNone/>
                      </a:pPr>
                      <a:r>
                        <a:rPr lang="en-US" sz="1200" b="1" dirty="0"/>
                        <a:t>$8.69</a:t>
                      </a:r>
                      <a:endParaRPr lang="en-US" sz="1200" dirty="0"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>
                        <a:buNone/>
                      </a:pPr>
                      <a:r>
                        <a:rPr lang="en-US" sz="1200" b="1" dirty="0"/>
                        <a:t>7–26x better</a:t>
                      </a:r>
                      <a:endParaRPr lang="en-US" sz="1200" dirty="0"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8309174"/>
                  </a:ext>
                </a:extLst>
              </a:tr>
              <a:tr h="36516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0"/>
                        <a:t>Months to Break Even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>
                        <a:buNone/>
                      </a:pPr>
                      <a:r>
                        <a:rPr lang="en-US" sz="1200" dirty="0"/>
                        <a:t>12 – 36+ months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>
                        <a:buNone/>
                      </a:pPr>
                      <a:r>
                        <a:rPr lang="en-US" sz="1200" b="1" dirty="0"/>
                        <a:t>3.6 months</a:t>
                      </a:r>
                      <a:r>
                        <a:rPr lang="en-US" sz="1200" dirty="0"/>
                        <a:t> (Full Bank) </a:t>
                      </a:r>
                      <a:r>
                        <a:rPr lang="en-US" sz="1200" b="1" dirty="0"/>
                        <a:t>10.7 months</a:t>
                      </a:r>
                      <a:r>
                        <a:rPr lang="en-US" sz="1200" dirty="0"/>
                        <a:t> (FTP)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>
                        <a:buNone/>
                      </a:pPr>
                      <a:r>
                        <a:rPr lang="en-US" sz="1200" b="1" dirty="0"/>
                        <a:t>3–10x faster</a:t>
                      </a:r>
                      <a:endParaRPr lang="en-US" sz="1200" dirty="0"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9438579"/>
                  </a:ext>
                </a:extLst>
              </a:tr>
              <a:tr h="759482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0" dirty="0"/>
                        <a:t>Est. Net Customer Lifetime Value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>
                        <a:buNone/>
                      </a:pPr>
                      <a:r>
                        <a:rPr lang="en-US" sz="1200" dirty="0"/>
                        <a:t>Low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>
                        <a:buNone/>
                      </a:pPr>
                      <a:r>
                        <a:rPr lang="en-US" sz="1200" b="1" dirty="0"/>
                        <a:t>$6,835</a:t>
                      </a:r>
                      <a:r>
                        <a:rPr lang="en-US" sz="1200" dirty="0"/>
                        <a:t> (Full Bank 2.25%) </a:t>
                      </a:r>
                      <a:r>
                        <a:rPr lang="en-US" sz="1200" b="1" dirty="0"/>
                        <a:t>$1,900</a:t>
                      </a:r>
                      <a:r>
                        <a:rPr lang="en-US" sz="1200" dirty="0"/>
                        <a:t> (FTP 0.75%)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>
                        <a:buNone/>
                      </a:pPr>
                      <a:r>
                        <a:rPr lang="en-US" sz="1200" b="1" dirty="0"/>
                        <a:t>4–14x CAC</a:t>
                      </a:r>
                      <a:endParaRPr lang="en-US" sz="1200" dirty="0"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680157"/>
                  </a:ext>
                </a:extLst>
              </a:tr>
            </a:tbl>
          </a:graphicData>
        </a:graphic>
      </p:graphicFrame>
      <p:sp>
        <p:nvSpPr>
          <p:cNvPr id="8" name="Text 3">
            <a:extLst>
              <a:ext uri="{FF2B5EF4-FFF2-40B4-BE49-F238E27FC236}">
                <a16:creationId xmlns:a16="http://schemas.microsoft.com/office/drawing/2014/main" id="{596073D6-7AEE-F1D2-F659-7E0928BE8D3B}"/>
              </a:ext>
            </a:extLst>
          </p:cNvPr>
          <p:cNvSpPr/>
          <p:nvPr/>
        </p:nvSpPr>
        <p:spPr>
          <a:xfrm>
            <a:off x="457200" y="274320"/>
            <a:ext cx="676220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50" dirty="0">
                <a:solidFill>
                  <a:srgbClr val="00A3C8"/>
                </a:solidFill>
                <a:latin typeface="Arial" pitchFamily="34" charset="0"/>
                <a:cs typeface="Arial" pitchFamily="34" charset="-120"/>
              </a:rPr>
              <a:t>OMNI BRANCH | OUR DIGITAL FIRST DEPOSIT GROWTH ENGINE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58354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2EF4C-23D7-F0DE-D096-E60431EF7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4">
            <a:extLst>
              <a:ext uri="{FF2B5EF4-FFF2-40B4-BE49-F238E27FC236}">
                <a16:creationId xmlns:a16="http://schemas.microsoft.com/office/drawing/2014/main" id="{379F5FE6-1F68-BBCA-9302-8BE33618359D}"/>
              </a:ext>
            </a:extLst>
          </p:cNvPr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D2B4A"/>
                </a:solidFill>
                <a:latin typeface="Arial" pitchFamily="34" charset="0"/>
                <a:cs typeface="Arial" pitchFamily="34" charset="-120"/>
              </a:rPr>
              <a:t>Competitive Model Comparison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71F6B3C2-874C-949F-5E49-6523BA6B3A88}"/>
              </a:ext>
            </a:extLst>
          </p:cNvPr>
          <p:cNvSpPr/>
          <p:nvPr/>
        </p:nvSpPr>
        <p:spPr>
          <a:xfrm>
            <a:off x="457200" y="960120"/>
            <a:ext cx="1645920" cy="36576"/>
          </a:xfrm>
          <a:prstGeom prst="rect">
            <a:avLst/>
          </a:prstGeom>
          <a:solidFill>
            <a:srgbClr val="00A3C8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8DE225A-CD3C-2F79-AAD2-03C21592A6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954101"/>
              </p:ext>
            </p:extLst>
          </p:nvPr>
        </p:nvGraphicFramePr>
        <p:xfrm>
          <a:off x="457200" y="1094238"/>
          <a:ext cx="8229600" cy="339405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3478495555"/>
                    </a:ext>
                  </a:extLst>
                </a:gridCol>
                <a:gridCol w="826547">
                  <a:extLst>
                    <a:ext uri="{9D8B030D-6E8A-4147-A177-3AD203B41FA5}">
                      <a16:colId xmlns:a16="http://schemas.microsoft.com/office/drawing/2014/main" val="3271089132"/>
                    </a:ext>
                  </a:extLst>
                </a:gridCol>
                <a:gridCol w="1149091">
                  <a:extLst>
                    <a:ext uri="{9D8B030D-6E8A-4147-A177-3AD203B41FA5}">
                      <a16:colId xmlns:a16="http://schemas.microsoft.com/office/drawing/2014/main" val="1651692920"/>
                    </a:ext>
                  </a:extLst>
                </a:gridCol>
                <a:gridCol w="901819">
                  <a:extLst>
                    <a:ext uri="{9D8B030D-6E8A-4147-A177-3AD203B41FA5}">
                      <a16:colId xmlns:a16="http://schemas.microsoft.com/office/drawing/2014/main" val="4180700466"/>
                    </a:ext>
                  </a:extLst>
                </a:gridCol>
                <a:gridCol w="1956363">
                  <a:extLst>
                    <a:ext uri="{9D8B030D-6E8A-4147-A177-3AD203B41FA5}">
                      <a16:colId xmlns:a16="http://schemas.microsoft.com/office/drawing/2014/main" val="1866189425"/>
                    </a:ext>
                  </a:extLst>
                </a:gridCol>
                <a:gridCol w="2024180">
                  <a:extLst>
                    <a:ext uri="{9D8B030D-6E8A-4147-A177-3AD203B41FA5}">
                      <a16:colId xmlns:a16="http://schemas.microsoft.com/office/drawing/2014/main" val="2826411258"/>
                    </a:ext>
                  </a:extLst>
                </a:gridCol>
              </a:tblGrid>
              <a:tr h="379181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 Approach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Typical CAC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Avg. Initial Balance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Retention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Example Competitors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Omni Branch Advantage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732180"/>
                  </a:ext>
                </a:extLst>
              </a:tr>
              <a:tr h="379181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0" dirty="0"/>
                        <a:t>Omni Branch (Savings-First)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200" b="1" dirty="0"/>
                        <a:t>$502</a:t>
                      </a:r>
                      <a:endParaRPr lang="en-US" sz="1200" dirty="0"/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200" b="1" dirty="0"/>
                        <a:t>$75k</a:t>
                      </a:r>
                      <a:endParaRPr lang="en-US" sz="1200" dirty="0"/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200" b="1" dirty="0"/>
                        <a:t>&gt;77%</a:t>
                      </a:r>
                      <a:endParaRPr lang="en-US" sz="1200" dirty="0"/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200" dirty="0"/>
                        <a:t>—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200" dirty="0"/>
                        <a:t>—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2408267"/>
                  </a:ext>
                </a:extLst>
              </a:tr>
              <a:tr h="462046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0"/>
                        <a:t>Pure Digital / Online Banks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200" dirty="0"/>
                        <a:t>$290 – $400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200" dirty="0"/>
                        <a:t>Lower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200" dirty="0"/>
                        <a:t>Lower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/>
                        <a:t>Ally, Marcus by Goldman Sachs, Capital One 360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1"/>
                        <a:t>Higher balances + better retention</a:t>
                      </a:r>
                      <a:endParaRPr lang="en-US" sz="1200"/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3649400"/>
                  </a:ext>
                </a:extLst>
              </a:tr>
              <a:tr h="41130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0" dirty="0"/>
                        <a:t>Traditional Retail Banking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200" b="1" dirty="0"/>
                        <a:t>$561</a:t>
                      </a:r>
                      <a:endParaRPr lang="en-US" sz="1200" dirty="0"/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200" dirty="0"/>
                        <a:t>$10k – $30k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200" dirty="0"/>
                        <a:t>35–55%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/>
                        <a:t>Chase, Bank of America, Wells Fargo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1"/>
                        <a:t>Lower CAC + 2.5–7.5x higher balances</a:t>
                      </a:r>
                      <a:endParaRPr lang="en-US" sz="1200"/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243735"/>
                  </a:ext>
                </a:extLst>
              </a:tr>
              <a:tr h="708735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0"/>
                        <a:t>Checking Bonus Campaigns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$900 – $1,800+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200" dirty="0"/>
                        <a:t>Lower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200" dirty="0"/>
                        <a:t>Lower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r>
                        <a:rPr lang="en-US" sz="1200" dirty="0">
                          <a:effectLst/>
                        </a:rPr>
                        <a:t>Chase Total Checking ($400), Bank of America Advantage ($500), Huntington ($400–$600)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1" dirty="0"/>
                        <a:t>45–70%+ lower CAC</a:t>
                      </a:r>
                      <a:endParaRPr lang="en-US" sz="1200" dirty="0"/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816848"/>
                  </a:ext>
                </a:extLst>
              </a:tr>
              <a:tr h="379181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0"/>
                        <a:t>Fintech / High-Competition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200" dirty="0"/>
                        <a:t>$1,450 – $2,140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200" dirty="0"/>
                        <a:t>Varies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200" dirty="0"/>
                        <a:t>Varies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dirty="0"/>
                        <a:t>SoFi, Marcus, broader fintech avg.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1"/>
                        <a:t>Significantly lower</a:t>
                      </a:r>
                      <a:endParaRPr lang="en-US" sz="1200"/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054563"/>
                  </a:ext>
                </a:extLst>
              </a:tr>
              <a:tr h="462046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0" dirty="0"/>
                        <a:t>Credit Unions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200" b="1" dirty="0"/>
                        <a:t>$428</a:t>
                      </a:r>
                      <a:endParaRPr lang="en-US" sz="1200" dirty="0"/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200" dirty="0"/>
                        <a:t>Varies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200" dirty="0"/>
                        <a:t>Higher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dirty="0"/>
                        <a:t>Various regional CUs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1" dirty="0"/>
                        <a:t>Comparable CAC with stronger digital execution</a:t>
                      </a:r>
                      <a:endParaRPr lang="en-US" sz="1200" dirty="0"/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150341"/>
                  </a:ext>
                </a:extLst>
              </a:tr>
            </a:tbl>
          </a:graphicData>
        </a:graphic>
      </p:graphicFrame>
      <p:sp>
        <p:nvSpPr>
          <p:cNvPr id="11" name="Text 3">
            <a:extLst>
              <a:ext uri="{FF2B5EF4-FFF2-40B4-BE49-F238E27FC236}">
                <a16:creationId xmlns:a16="http://schemas.microsoft.com/office/drawing/2014/main" id="{767B83B6-23EE-08F6-1513-7B5D48142762}"/>
              </a:ext>
            </a:extLst>
          </p:cNvPr>
          <p:cNvSpPr/>
          <p:nvPr/>
        </p:nvSpPr>
        <p:spPr>
          <a:xfrm>
            <a:off x="457200" y="274320"/>
            <a:ext cx="676220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50" dirty="0">
                <a:solidFill>
                  <a:srgbClr val="00A3C8"/>
                </a:solidFill>
                <a:latin typeface="Arial" pitchFamily="34" charset="0"/>
                <a:cs typeface="Arial" pitchFamily="34" charset="-120"/>
              </a:rPr>
              <a:t>OMNI BRANCH | OUR DIGITAL FIRST DEPOSIT GROWTH ENGINE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837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BDFBC-8481-CA97-B526-C2CB327BB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4">
            <a:extLst>
              <a:ext uri="{FF2B5EF4-FFF2-40B4-BE49-F238E27FC236}">
                <a16:creationId xmlns:a16="http://schemas.microsoft.com/office/drawing/2014/main" id="{EBFFDF3B-9AB9-92A6-62CF-C10937DE684F}"/>
              </a:ext>
            </a:extLst>
          </p:cNvPr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D2B4A"/>
                </a:solidFill>
                <a:latin typeface="Arial" pitchFamily="34" charset="0"/>
                <a:cs typeface="Arial" pitchFamily="34" charset="-120"/>
              </a:rPr>
              <a:t>Retail Deposit Forecast with Media Budget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2ABA8130-BEC8-4F31-2199-456035DB0724}"/>
              </a:ext>
            </a:extLst>
          </p:cNvPr>
          <p:cNvSpPr/>
          <p:nvPr/>
        </p:nvSpPr>
        <p:spPr>
          <a:xfrm>
            <a:off x="457200" y="960120"/>
            <a:ext cx="1645920" cy="36576"/>
          </a:xfrm>
          <a:prstGeom prst="rect">
            <a:avLst/>
          </a:prstGeom>
          <a:solidFill>
            <a:srgbClr val="00A3C8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8D50B848-F8B8-40F4-CC51-149347FACEBE}"/>
              </a:ext>
            </a:extLst>
          </p:cNvPr>
          <p:cNvSpPr/>
          <p:nvPr/>
        </p:nvSpPr>
        <p:spPr>
          <a:xfrm>
            <a:off x="457200" y="274320"/>
            <a:ext cx="676220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50" dirty="0">
                <a:solidFill>
                  <a:srgbClr val="00A3C8"/>
                </a:solidFill>
                <a:latin typeface="Arial" pitchFamily="34" charset="0"/>
                <a:cs typeface="Arial" pitchFamily="34" charset="-120"/>
              </a:rPr>
              <a:t>OMNI BRANCH | OUR DIGITAL FIRST DEPOSIT GROWTH ENGINE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83B2F9AD-5FA2-D812-6413-9249F30207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6457919"/>
              </p:ext>
            </p:extLst>
          </p:nvPr>
        </p:nvGraphicFramePr>
        <p:xfrm>
          <a:off x="457200" y="1088136"/>
          <a:ext cx="8229600" cy="2979771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998974">
                  <a:extLst>
                    <a:ext uri="{9D8B030D-6E8A-4147-A177-3AD203B41FA5}">
                      <a16:colId xmlns:a16="http://schemas.microsoft.com/office/drawing/2014/main" val="359233760"/>
                    </a:ext>
                  </a:extLst>
                </a:gridCol>
                <a:gridCol w="1806109">
                  <a:extLst>
                    <a:ext uri="{9D8B030D-6E8A-4147-A177-3AD203B41FA5}">
                      <a16:colId xmlns:a16="http://schemas.microsoft.com/office/drawing/2014/main" val="912026149"/>
                    </a:ext>
                  </a:extLst>
                </a:gridCol>
                <a:gridCol w="1474839">
                  <a:extLst>
                    <a:ext uri="{9D8B030D-6E8A-4147-A177-3AD203B41FA5}">
                      <a16:colId xmlns:a16="http://schemas.microsoft.com/office/drawing/2014/main" val="3291302386"/>
                    </a:ext>
                  </a:extLst>
                </a:gridCol>
                <a:gridCol w="1474839">
                  <a:extLst>
                    <a:ext uri="{9D8B030D-6E8A-4147-A177-3AD203B41FA5}">
                      <a16:colId xmlns:a16="http://schemas.microsoft.com/office/drawing/2014/main" val="3383503139"/>
                    </a:ext>
                  </a:extLst>
                </a:gridCol>
                <a:gridCol w="1474839">
                  <a:extLst>
                    <a:ext uri="{9D8B030D-6E8A-4147-A177-3AD203B41FA5}">
                      <a16:colId xmlns:a16="http://schemas.microsoft.com/office/drawing/2014/main" val="1030378839"/>
                    </a:ext>
                  </a:extLst>
                </a:gridCol>
              </a:tblGrid>
              <a:tr h="526707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Target Deposit Production</a:t>
                      </a:r>
                    </a:p>
                  </a:txBody>
                  <a:tcPr marL="191778" marR="95889" marT="95889" marB="95889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New Accounts Needed</a:t>
                      </a:r>
                    </a:p>
                  </a:txBody>
                  <a:tcPr marL="191778" marR="95889" marT="95889" marB="95889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$500 CAC</a:t>
                      </a:r>
                    </a:p>
                  </a:txBody>
                  <a:tcPr marL="191778" marR="95889" marT="95889" marB="95889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$750 CAC</a:t>
                      </a:r>
                    </a:p>
                  </a:txBody>
                  <a:tcPr marL="191778" marR="95889" marT="95889" marB="95889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$1000 CAC</a:t>
                      </a:r>
                    </a:p>
                  </a:txBody>
                  <a:tcPr marL="191778" marR="95889" marT="95889" marB="95889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312594"/>
                  </a:ext>
                </a:extLst>
              </a:tr>
              <a:tr h="402946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$25 Million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91778" marR="95889" marT="95889" marB="95889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333</a:t>
                      </a:r>
                    </a:p>
                  </a:txBody>
                  <a:tcPr marL="191778" marR="95889" marT="95889" marB="95889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$167k</a:t>
                      </a:r>
                    </a:p>
                  </a:txBody>
                  <a:tcPr marL="191778" marR="95889" marT="95889" marB="95889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$250k</a:t>
                      </a:r>
                    </a:p>
                  </a:txBody>
                  <a:tcPr marL="191778" marR="95889" marT="95889" marB="95889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$333k</a:t>
                      </a:r>
                    </a:p>
                  </a:txBody>
                  <a:tcPr marL="191778" marR="95889" marT="95889" marB="95889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177708"/>
                  </a:ext>
                </a:extLst>
              </a:tr>
              <a:tr h="407503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$50 Million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91778" marR="95889" marT="95889" marB="95889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667</a:t>
                      </a:r>
                    </a:p>
                  </a:txBody>
                  <a:tcPr marL="191778" marR="95889" marT="95889" marB="95889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$333k</a:t>
                      </a:r>
                    </a:p>
                  </a:txBody>
                  <a:tcPr marL="191778" marR="95889" marT="95889" marB="95889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$500k</a:t>
                      </a:r>
                    </a:p>
                  </a:txBody>
                  <a:tcPr marL="191778" marR="95889" marT="95889" marB="95889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$667k</a:t>
                      </a:r>
                    </a:p>
                  </a:txBody>
                  <a:tcPr marL="191778" marR="95889" marT="95889" marB="95889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6680584"/>
                  </a:ext>
                </a:extLst>
              </a:tr>
              <a:tr h="402946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$75 Million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91778" marR="95889" marT="95889" marB="95889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1,000</a:t>
                      </a:r>
                    </a:p>
                  </a:txBody>
                  <a:tcPr marL="191778" marR="95889" marT="95889" marB="95889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$500k</a:t>
                      </a:r>
                    </a:p>
                  </a:txBody>
                  <a:tcPr marL="191778" marR="95889" marT="95889" marB="95889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$750k</a:t>
                      </a:r>
                    </a:p>
                  </a:txBody>
                  <a:tcPr marL="191778" marR="95889" marT="95889" marB="95889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$1.0M</a:t>
                      </a:r>
                    </a:p>
                  </a:txBody>
                  <a:tcPr marL="191778" marR="95889" marT="95889" marB="95889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280588"/>
                  </a:ext>
                </a:extLst>
              </a:tr>
              <a:tr h="402946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$100 Million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91778" marR="95889" marT="95889" marB="95889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1,333</a:t>
                      </a:r>
                    </a:p>
                  </a:txBody>
                  <a:tcPr marL="191778" marR="95889" marT="95889" marB="95889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$667k</a:t>
                      </a:r>
                    </a:p>
                  </a:txBody>
                  <a:tcPr marL="191778" marR="95889" marT="95889" marB="95889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$1.0M</a:t>
                      </a:r>
                    </a:p>
                  </a:txBody>
                  <a:tcPr marL="191778" marR="95889" marT="95889" marB="95889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$1.33M</a:t>
                      </a:r>
                    </a:p>
                  </a:txBody>
                  <a:tcPr marL="191778" marR="95889" marT="95889" marB="95889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9966"/>
                  </a:ext>
                </a:extLst>
              </a:tr>
              <a:tr h="402946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$150 Million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91778" marR="95889" marT="95889" marB="95889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2,000</a:t>
                      </a:r>
                    </a:p>
                  </a:txBody>
                  <a:tcPr marL="191778" marR="95889" marT="95889" marB="95889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$1.00M</a:t>
                      </a:r>
                    </a:p>
                  </a:txBody>
                  <a:tcPr marL="191778" marR="95889" marT="95889" marB="95889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$1.50M</a:t>
                      </a:r>
                    </a:p>
                  </a:txBody>
                  <a:tcPr marL="191778" marR="95889" marT="95889" marB="95889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$2.0M</a:t>
                      </a:r>
                    </a:p>
                  </a:txBody>
                  <a:tcPr marL="191778" marR="95889" marT="95889" marB="95889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405670"/>
                  </a:ext>
                </a:extLst>
              </a:tr>
              <a:tr h="402946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$200 Million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91778" marR="95889" marT="95889" marB="95889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2,667</a:t>
                      </a:r>
                    </a:p>
                  </a:txBody>
                  <a:tcPr marL="191778" marR="95889" marT="95889" marB="95889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$1.33M</a:t>
                      </a:r>
                    </a:p>
                  </a:txBody>
                  <a:tcPr marL="191778" marR="95889" marT="95889" marB="95889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$2.00M</a:t>
                      </a:r>
                    </a:p>
                  </a:txBody>
                  <a:tcPr marL="191778" marR="95889" marT="95889" marB="95889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$2.68M</a:t>
                      </a:r>
                    </a:p>
                  </a:txBody>
                  <a:tcPr marL="191778" marR="95889" marT="95889" marB="95889" anchor="ctr">
                    <a:lnL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24541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F539EA9-75E2-8BE0-D614-F3B50828BD6C}"/>
              </a:ext>
            </a:extLst>
          </p:cNvPr>
          <p:cNvSpPr txBox="1"/>
          <p:nvPr/>
        </p:nvSpPr>
        <p:spPr>
          <a:xfrm>
            <a:off x="457200" y="418338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Aptos" panose="02110004020202020204"/>
              </a:rPr>
              <a:t>This table shows the power of our model. Even if CAC rises to $750–$1,000, we can still raise $150–$200 million in deposits with reasonable media budgets.</a:t>
            </a:r>
          </a:p>
        </p:txBody>
      </p:sp>
    </p:spTree>
    <p:extLst>
      <p:ext uri="{BB962C8B-B14F-4D97-AF65-F5344CB8AC3E}">
        <p14:creationId xmlns:p14="http://schemas.microsoft.com/office/powerpoint/2010/main" val="3616121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BF256-061D-118B-659A-B466F1F7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3">
            <a:extLst>
              <a:ext uri="{FF2B5EF4-FFF2-40B4-BE49-F238E27FC236}">
                <a16:creationId xmlns:a16="http://schemas.microsoft.com/office/drawing/2014/main" id="{31CC2C35-7F2C-E7AA-2264-C1EE788D5888}"/>
              </a:ext>
            </a:extLst>
          </p:cNvPr>
          <p:cNvSpPr/>
          <p:nvPr/>
        </p:nvSpPr>
        <p:spPr>
          <a:xfrm>
            <a:off x="457200" y="274320"/>
            <a:ext cx="676220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50" dirty="0">
                <a:solidFill>
                  <a:srgbClr val="00A3C8"/>
                </a:solidFill>
                <a:latin typeface="Arial" pitchFamily="34" charset="0"/>
                <a:cs typeface="Arial" pitchFamily="34" charset="-120"/>
              </a:rPr>
              <a:t>OMNI BRANCH | OUR DIGITAL FIRST DEPOSIT GROWTH ENGINE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9315FF00-F554-B8F2-78D6-4478F18D6534}"/>
              </a:ext>
            </a:extLst>
          </p:cNvPr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D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Program Components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79712733-B2FC-3DAD-64A5-0A886DBB3AD6}"/>
              </a:ext>
            </a:extLst>
          </p:cNvPr>
          <p:cNvSpPr/>
          <p:nvPr/>
        </p:nvSpPr>
        <p:spPr>
          <a:xfrm>
            <a:off x="457200" y="960120"/>
            <a:ext cx="1645920" cy="36576"/>
          </a:xfrm>
          <a:prstGeom prst="rect">
            <a:avLst/>
          </a:prstGeom>
          <a:solidFill>
            <a:srgbClr val="00A3C8"/>
          </a:solidFill>
          <a:ln/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AD7EA3F-7A23-965D-FE7D-2C422AD5C010}"/>
              </a:ext>
            </a:extLst>
          </p:cNvPr>
          <p:cNvSpPr txBox="1">
            <a:spLocks/>
          </p:cNvSpPr>
          <p:nvPr/>
        </p:nvSpPr>
        <p:spPr>
          <a:xfrm>
            <a:off x="366138" y="1088136"/>
            <a:ext cx="8320662" cy="4616823"/>
          </a:xfrm>
          <a:prstGeom prst="rect">
            <a:avLst/>
          </a:prstGeom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Key foundational elements for building a successful and sustainable Omni Branch program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>
              <a:spcBef>
                <a:spcPts val="1000"/>
              </a:spcBef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Rate competitive savings products (CD, HYS, MMA, Interest Checking) </a:t>
            </a:r>
          </a:p>
          <a:p>
            <a:pPr lvl="1" defTabSz="914400">
              <a:spcBef>
                <a:spcPts val="1000"/>
              </a:spcBef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Dedicated savings offer site in place</a:t>
            </a:r>
          </a:p>
          <a:p>
            <a:pPr lvl="1" defTabSz="914400">
              <a:spcBef>
                <a:spcPts val="1000"/>
              </a:spcBef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Digital online account opening capabilities </a:t>
            </a:r>
          </a:p>
          <a:p>
            <a:pPr lvl="1" defTabSz="914400">
              <a:spcBef>
                <a:spcPts val="1000"/>
              </a:spcBef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Alignment with retail branches and bankers to engage and convert walk-ins exposed to ads </a:t>
            </a:r>
          </a:p>
          <a:p>
            <a:pPr lvl="1" defTabSz="914400">
              <a:spcBef>
                <a:spcPts val="1000"/>
              </a:spcBef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Clearly defined email and call onboarding/cross-sell journeys</a:t>
            </a:r>
          </a:p>
          <a:p>
            <a:pPr lvl="1" defTabSz="914400">
              <a:spcBef>
                <a:spcPts val="1000"/>
              </a:spcBef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All bank customer exclusion lists in place to mitigate cannibalization</a:t>
            </a:r>
          </a:p>
          <a:p>
            <a:pPr lvl="1" defTabSz="914400">
              <a:spcBef>
                <a:spcPts val="1000"/>
              </a:spcBef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Funded media spend based on forecasted targets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chemeClr val="bg1"/>
                </a:solidFill>
              </a:rPr>
              <a:t>Core Omni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2835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5BA3E-58D5-0DBD-E3AF-E570404C8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744395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7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7B00"/>
      </a:accent1>
      <a:accent2>
        <a:srgbClr val="AE7C18"/>
      </a:accent2>
      <a:accent3>
        <a:srgbClr val="191919"/>
      </a:accent3>
      <a:accent4>
        <a:srgbClr val="FFBA07"/>
      </a:accent4>
      <a:accent5>
        <a:srgbClr val="191919"/>
      </a:accent5>
      <a:accent6>
        <a:srgbClr val="FFBA07"/>
      </a:accent6>
      <a:hlink>
        <a:srgbClr val="0563C1"/>
      </a:hlink>
      <a:folHlink>
        <a:srgbClr val="954F72"/>
      </a:folHlink>
    </a:clrScheme>
    <a:fontScheme name="[Your Theme Name]">
      <a:majorFont>
        <a:latin typeface="[Inter 28pt]"/>
        <a:ea typeface=""/>
        <a:cs typeface=""/>
      </a:majorFont>
      <a:minorFont>
        <a:latin typeface="[Inter 18pt]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EFDCC9A6D405439D3F8ADC4B8D1EA0" ma:contentTypeVersion="10" ma:contentTypeDescription="Create a new document." ma:contentTypeScope="" ma:versionID="f7dd2aceded6c06acc1f7c5cb6dce267">
  <xsd:schema xmlns:xsd="http://www.w3.org/2001/XMLSchema" xmlns:xs="http://www.w3.org/2001/XMLSchema" xmlns:p="http://schemas.microsoft.com/office/2006/metadata/properties" xmlns:ns2="4b67e230-8fe5-40bd-9ff6-ec1a4357d438" xmlns:ns3="48d788e9-257b-4ebe-86ee-3ab7942b86b6" targetNamespace="http://schemas.microsoft.com/office/2006/metadata/properties" ma:root="true" ma:fieldsID="f4ca3a2b3736875015acc5f3be01df43" ns2:_="" ns3:_="">
    <xsd:import namespace="4b67e230-8fe5-40bd-9ff6-ec1a4357d438"/>
    <xsd:import namespace="48d788e9-257b-4ebe-86ee-3ab7942b86b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67e230-8fe5-40bd-9ff6-ec1a4357d4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67c148a-cec5-4f62-b981-fbfb6599abb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d788e9-257b-4ebe-86ee-3ab7942b86b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1fe973e-a019-44b9-b5d7-6c4223695b28}" ma:internalName="TaxCatchAll" ma:showField="CatchAllData" ma:web="48d788e9-257b-4ebe-86ee-3ab7942b86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8d788e9-257b-4ebe-86ee-3ab7942b86b6" xsi:nil="true"/>
    <lcf76f155ced4ddcb4097134ff3c332f xmlns="4b67e230-8fe5-40bd-9ff6-ec1a4357d43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6DA17E3-4F67-4A94-93C3-B7F8C9132CD1}"/>
</file>

<file path=customXml/itemProps2.xml><?xml version="1.0" encoding="utf-8"?>
<ds:datastoreItem xmlns:ds="http://schemas.openxmlformats.org/officeDocument/2006/customXml" ds:itemID="{900CF11D-824B-46BF-B772-288E76B50709}"/>
</file>

<file path=customXml/itemProps3.xml><?xml version="1.0" encoding="utf-8"?>
<ds:datastoreItem xmlns:ds="http://schemas.openxmlformats.org/officeDocument/2006/customXml" ds:itemID="{1CD34D75-C5EB-474E-A0DE-A585A6C286B4}"/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1372</Words>
  <Application>Microsoft Office PowerPoint</Application>
  <PresentationFormat>On-screen Show (16:9)</PresentationFormat>
  <Paragraphs>294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[Inter 18pt]</vt:lpstr>
      <vt:lpstr>Aptos</vt:lpstr>
      <vt:lpstr>Arial</vt:lpstr>
      <vt:lpstr>Calibri</vt:lpstr>
      <vt:lpstr>Helvetica Neue</vt:lpstr>
      <vt:lpstr>Inter 18pt 18pt</vt:lpstr>
      <vt:lpstr>Inter 28pt 28pt</vt:lpstr>
      <vt:lpstr>Jost Black</vt:lpstr>
      <vt:lpstr>1_Office Theme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Appendix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Verlocity Growth System — Intro to BMAP</dc:title>
  <dc:subject>BMAP Snapshot Introduction</dc:subject>
  <dc:creator>Verlocity</dc:creator>
  <cp:lastModifiedBy>Francisco Gonzalez Grau</cp:lastModifiedBy>
  <cp:revision>6</cp:revision>
  <dcterms:created xsi:type="dcterms:W3CDTF">2026-08-11T19:39:47Z</dcterms:created>
  <dcterms:modified xsi:type="dcterms:W3CDTF">2026-09-23T09:57:18Z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0x010100CEEFDCC9A6D405439D3F8ADC4B8D1EA0</vt:lpwstr>
  </property>
</Properties>
</file>